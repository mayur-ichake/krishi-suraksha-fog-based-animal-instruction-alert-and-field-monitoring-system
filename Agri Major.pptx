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_rels/notes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4.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9.png" ContentType="image/png"/>
  <Override PartName="/ppt/media/image1.png" ContentType="image/png"/>
  <Override PartName="/ppt/media/image2.jpeg" ContentType="image/jpeg"/>
  <Override PartName="/ppt/media/image17.jpeg" ContentType="image/jpeg"/>
  <Override PartName="/ppt/media/image3.png" ContentType="image/png"/>
  <Override PartName="/ppt/media/image4.jpeg" ContentType="image/jpeg"/>
  <Override PartName="/ppt/media/image5.png" ContentType="image/png"/>
  <Override PartName="/ppt/media/image21.png" ContentType="image/png"/>
  <Override PartName="/ppt/media/image6.jpeg" ContentType="image/jpeg"/>
  <Override PartName="/ppt/media/image7.png" ContentType="image/png"/>
  <Override PartName="/ppt/media/image8.jpeg" ContentType="image/jpeg"/>
  <Override PartName="/ppt/media/image10.jpeg" ContentType="image/jpeg"/>
  <Override PartName="/ppt/media/image11.png" ContentType="image/png"/>
  <Override PartName="/ppt/media/image12.png" ContentType="image/png"/>
  <Override PartName="/ppt/media/image13.png" ContentType="image/png"/>
  <Override PartName="/ppt/media/image29.png" ContentType="image/png"/>
  <Override PartName="/ppt/media/image14.jpeg" ContentType="image/jpeg"/>
  <Override PartName="/ppt/media/image15.png" ContentType="image/png"/>
  <Override PartName="/ppt/media/image16.png" ContentType="image/png"/>
  <Override PartName="/ppt/media/image18.png" ContentType="image/png"/>
  <Override PartName="/ppt/media/image22.png" ContentType="image/png"/>
  <Override PartName="/ppt/media/image19.jpeg" ContentType="image/jpeg"/>
  <Override PartName="/ppt/media/image20.png" ContentType="image/png"/>
  <Override PartName="/ppt/media/image23.png" ContentType="image/png"/>
  <Override PartName="/ppt/media/image24.png" ContentType="image/png"/>
  <Override PartName="/ppt/media/image25.jpeg" ContentType="image/jpeg"/>
  <Override PartName="/ppt/media/image26.png" ContentType="image/png"/>
  <Override PartName="/ppt/media/image27.jpeg" ContentType="image/jpeg"/>
  <Override PartName="/ppt/media/image28.png" ContentType="image/png"/>
  <Override PartName="/ppt/media/image30.png" ContentType="image/png"/>
  <Override PartName="/ppt/media/image3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533520" y="764280"/>
            <a:ext cx="6704640" cy="3771360"/>
          </a:xfrm>
          <a:prstGeom prst="rect">
            <a:avLst/>
          </a:prstGeom>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83"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84"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85"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86"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87"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61D2FFE7-CAD1-4157-AE7C-9D6473CA4284}"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6040" cy="3085920"/>
          </a:xfrm>
          <a:prstGeom prst="rect">
            <a:avLst/>
          </a:prstGeom>
        </p:spPr>
      </p:sp>
      <p:sp>
        <p:nvSpPr>
          <p:cNvPr id="162"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16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32A87B19-07FC-41A6-828F-DB8726FE412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6040" cy="3085920"/>
          </a:xfrm>
          <a:prstGeom prst="rect">
            <a:avLst/>
          </a:prstGeom>
        </p:spPr>
      </p:sp>
      <p:sp>
        <p:nvSpPr>
          <p:cNvPr id="165"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16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EA914B19-20CE-49DA-A5A3-0D375F34F9E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6040" cy="3085920"/>
          </a:xfrm>
          <a:prstGeom prst="rect">
            <a:avLst/>
          </a:prstGeom>
        </p:spPr>
      </p:sp>
      <p:sp>
        <p:nvSpPr>
          <p:cNvPr id="168"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16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757CF3C-C2D6-488E-944B-0557A96B2C7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p:spPr>
      </p:sp>
      <p:sp>
        <p:nvSpPr>
          <p:cNvPr id="171"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17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7ADBD5F-6D4B-40AD-B61C-37084C2D8F70}"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8"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10"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
        <p:nvSpPr>
          <p:cNvPr id="1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3640" cy="1106676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1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1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
        <p:nvSpPr>
          <p:cNvPr id="1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19"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
        <p:nvSpPr>
          <p:cNvPr id="20"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21"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23"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24"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25"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27"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28"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3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3"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35"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6"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7"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8"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39"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40"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49"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51"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
        <p:nvSpPr>
          <p:cNvPr id="52"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1523880" y="1122480"/>
            <a:ext cx="9143640" cy="1106676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56"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57"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
        <p:nvSpPr>
          <p:cNvPr id="58"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60"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2800" spc="-1" strike="noStrike">
              <a:solidFill>
                <a:srgbClr val="000000"/>
              </a:solidFill>
              <a:latin typeface="Calibri"/>
            </a:endParaRPr>
          </a:p>
        </p:txBody>
      </p:sp>
      <p:sp>
        <p:nvSpPr>
          <p:cNvPr id="6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62"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64"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6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66"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68"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69"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7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7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73"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74"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523880" y="1122480"/>
            <a:ext cx="9143640" cy="2387160"/>
          </a:xfrm>
          <a:prstGeom prst="rect">
            <a:avLst/>
          </a:prstGeom>
        </p:spPr>
        <p:txBody>
          <a:bodyPr lIns="0" rIns="0" tIns="0" bIns="0" anchor="ctr">
            <a:spAutoFit/>
          </a:bodyPr>
          <a:p>
            <a:endParaRPr b="0" lang="en-US" sz="1800" spc="-1" strike="noStrike">
              <a:solidFill>
                <a:srgbClr val="000000"/>
              </a:solidFill>
              <a:latin typeface="Calibri"/>
            </a:endParaRPr>
          </a:p>
        </p:txBody>
      </p:sp>
      <p:sp>
        <p:nvSpPr>
          <p:cNvPr id="76"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77"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78"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79"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80"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
        <p:nvSpPr>
          <p:cNvPr id="81"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28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p:spPr>
        <p:txBody>
          <a:bodyPr anchor="b">
            <a:noAutofit/>
          </a:bodyPr>
          <a:p>
            <a:pPr algn="ctr">
              <a:lnSpc>
                <a:spcPct val="90000"/>
              </a:lnSpc>
            </a:pPr>
            <a:r>
              <a:rPr b="0" lang="en-US" sz="6000" spc="-1" strike="noStrike">
                <a:solidFill>
                  <a:srgbClr val="000000"/>
                </a:solidFill>
                <a:latin typeface="Calibri Light"/>
              </a:rPr>
              <a:t>Click to edit Master title style</a:t>
            </a:r>
            <a:endParaRPr b="0" lang="en-US" sz="6000" spc="-1" strike="noStrike">
              <a:solidFill>
                <a:srgbClr val="000000"/>
              </a:solidFill>
              <a:latin typeface="Calibri"/>
            </a:endParaRPr>
          </a:p>
        </p:txBody>
      </p:sp>
      <p:sp>
        <p:nvSpPr>
          <p:cNvPr id="1" name="PlaceHolder 2"/>
          <p:cNvSpPr>
            <a:spLocks noGrp="1"/>
          </p:cNvSpPr>
          <p:nvPr>
            <p:ph type="dt"/>
          </p:nvPr>
        </p:nvSpPr>
        <p:spPr>
          <a:xfrm>
            <a:off x="838080" y="6356520"/>
            <a:ext cx="2742840" cy="364680"/>
          </a:xfrm>
          <a:prstGeom prst="rect">
            <a:avLst/>
          </a:prstGeom>
        </p:spPr>
        <p:txBody>
          <a:bodyPr anchor="ctr">
            <a:noAutofit/>
          </a:bodyPr>
          <a:p>
            <a:pPr>
              <a:lnSpc>
                <a:spcPct val="100000"/>
              </a:lnSpc>
            </a:pPr>
            <a:fld id="{95274A63-FA99-4F57-8274-4E0D44F783F6}" type="datetime">
              <a:rPr b="0" lang="en-US" sz="1200" spc="-1" strike="noStrike">
                <a:solidFill>
                  <a:srgbClr val="8b8b8b"/>
                </a:solidFill>
                <a:latin typeface="Calibri"/>
              </a:rPr>
              <a:t>9/12/25</a:t>
            </a:fld>
            <a:endParaRPr b="0" lang="en-US" sz="1200" spc="-1" strike="noStrike">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noAutofit/>
          </a:bodyPr>
          <a:p>
            <a:endParaRPr b="0" lang="en-US" sz="2400" spc="-1" strike="noStrike">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55449E39-0E82-4075-AF16-427B8690389F}"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noAutofit/>
          </a:bodyPr>
          <a:p>
            <a:pPr>
              <a:lnSpc>
                <a:spcPct val="90000"/>
              </a:lnSpc>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noAutofit/>
          </a:bodyPr>
          <a:p>
            <a:pPr marL="228600" indent="-228240">
              <a:lnSpc>
                <a:spcPct val="90000"/>
              </a:lnSpc>
              <a:spcBef>
                <a:spcPts val="1001"/>
              </a:spcBef>
              <a:buClr>
                <a:srgbClr val="000000"/>
              </a:buClr>
              <a:buFont typeface="Arial"/>
              <a:buChar char="•"/>
            </a:pPr>
            <a:r>
              <a:rPr b="0" lang="en-US" sz="2800" spc="-1" strike="noStrike">
                <a:solidFill>
                  <a:srgbClr val="000000"/>
                </a:solidFill>
                <a:latin typeface="Calibri"/>
              </a:rPr>
              <a:t>Click to edit Master text styles</a:t>
            </a:r>
            <a:endParaRPr b="0" lang="en-US" sz="2800" spc="-1" strike="noStrike">
              <a:solidFill>
                <a:srgbClr val="000000"/>
              </a:solidFill>
              <a:latin typeface="Calibri"/>
            </a:endParaRPr>
          </a:p>
          <a:p>
            <a:pPr lvl="1" marL="685800" indent="-22824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24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24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24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p:nvPr>
        </p:nvSpPr>
        <p:spPr>
          <a:xfrm>
            <a:off x="838080" y="6356520"/>
            <a:ext cx="2742840" cy="364680"/>
          </a:xfrm>
          <a:prstGeom prst="rect">
            <a:avLst/>
          </a:prstGeom>
        </p:spPr>
        <p:txBody>
          <a:bodyPr anchor="ctr">
            <a:noAutofit/>
          </a:bodyPr>
          <a:p>
            <a:pPr>
              <a:lnSpc>
                <a:spcPct val="100000"/>
              </a:lnSpc>
            </a:pPr>
            <a:fld id="{60026453-B6C3-4756-9BC0-EE7FB4F2D540}" type="datetime">
              <a:rPr b="0" lang="en-US" sz="1200" spc="-1" strike="noStrike">
                <a:solidFill>
                  <a:srgbClr val="8b8b8b"/>
                </a:solidFill>
                <a:latin typeface="Calibri"/>
              </a:rPr>
              <a:t>9/12/25</a:t>
            </a:fld>
            <a:endParaRPr b="0" lang="en-US" sz="1200" spc="-1" strike="noStrike">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noAutofit/>
          </a:bodyPr>
          <a:p>
            <a:endParaRPr b="0" lang="en-US" sz="2400" spc="-1" strike="noStrike">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85576918-94BA-45BF-A7D6-5882F5B4743E}"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jpeg"/><Relationship Id="rId3"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jpeg"/><Relationship Id="rId3"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jpeg"/><Relationship Id="rId3"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jpeg"/><Relationship Id="rId3" Type="http://schemas.openxmlformats.org/officeDocument/2006/relationships/image" Target="../media/image15.png"/><Relationship Id="rId4" Type="http://schemas.openxmlformats.org/officeDocument/2006/relationships/slideLayout" Target="../slideLayouts/slideLayout13.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jpeg"/><Relationship Id="rId3" Type="http://schemas.openxmlformats.org/officeDocument/2006/relationships/slideLayout" Target="../slideLayouts/slideLayout13.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jpeg"/><Relationship Id="rId3" Type="http://schemas.openxmlformats.org/officeDocument/2006/relationships/slideLayout" Target="../slideLayouts/slideLayout1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jpeg"/><Relationship Id="rId3"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jpeg"/><Relationship Id="rId3"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hyperlink" Target="https://www.tensorflow.org/lite" TargetMode="External"/><Relationship Id="rId4" Type="http://schemas.openxmlformats.org/officeDocument/2006/relationships/slideLayout" Target="../slideLayouts/slideLayout13.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jpeg"/><Relationship Id="rId3"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Shape 1"/>
          <p:cNvSpPr txBox="1"/>
          <p:nvPr/>
        </p:nvSpPr>
        <p:spPr>
          <a:xfrm>
            <a:off x="1463040" y="209160"/>
            <a:ext cx="9143640" cy="883440"/>
          </a:xfrm>
          <a:prstGeom prst="rect">
            <a:avLst/>
          </a:prstGeom>
          <a:noFill/>
          <a:ln>
            <a:noFill/>
          </a:ln>
        </p:spPr>
        <p:txBody>
          <a:bodyPr anchor="b">
            <a:noAutofit/>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sp>
        <p:nvSpPr>
          <p:cNvPr id="89" name="TextShape 2"/>
          <p:cNvSpPr txBox="1"/>
          <p:nvPr/>
        </p:nvSpPr>
        <p:spPr>
          <a:xfrm>
            <a:off x="1463040" y="1497960"/>
            <a:ext cx="9692280" cy="4841640"/>
          </a:xfrm>
          <a:prstGeom prst="rect">
            <a:avLst/>
          </a:prstGeom>
          <a:noFill/>
          <a:ln>
            <a:noFill/>
          </a:ln>
        </p:spPr>
        <p:txBody>
          <a:bodyPr>
            <a:normAutofit fontScale="70000"/>
          </a:bodyPr>
          <a:p>
            <a:pPr algn="ctr">
              <a:lnSpc>
                <a:spcPct val="90000"/>
              </a:lnSpc>
              <a:spcBef>
                <a:spcPts val="1001"/>
              </a:spcBef>
            </a:pPr>
            <a:r>
              <a:rPr b="1" lang="en-US" sz="2600" spc="-1" strike="noStrike">
                <a:solidFill>
                  <a:srgbClr val="000000"/>
                </a:solidFill>
                <a:latin typeface="Arial Black"/>
              </a:rPr>
              <a:t>Mejor Project Presentation</a:t>
            </a:r>
            <a:endParaRPr b="0" lang="en-US" sz="2600" spc="-1" strike="noStrike">
              <a:latin typeface="Arial"/>
            </a:endParaRPr>
          </a:p>
          <a:p>
            <a:pPr algn="ctr">
              <a:lnSpc>
                <a:spcPct val="90000"/>
              </a:lnSpc>
              <a:spcBef>
                <a:spcPts val="1001"/>
              </a:spcBef>
            </a:pPr>
            <a:endParaRPr b="0" lang="en-US" sz="2600" spc="-1" strike="noStrike">
              <a:latin typeface="Arial"/>
            </a:endParaRPr>
          </a:p>
          <a:p>
            <a:pPr algn="ctr">
              <a:lnSpc>
                <a:spcPct val="90000"/>
              </a:lnSpc>
              <a:spcBef>
                <a:spcPts val="1001"/>
              </a:spcBef>
            </a:pPr>
            <a:r>
              <a:rPr b="0" lang="en-US" sz="2400" spc="-1" strike="noStrike">
                <a:solidFill>
                  <a:srgbClr val="000000"/>
                </a:solidFill>
                <a:latin typeface="Arial Black"/>
                <a:ea typeface="Microsoft YaHei"/>
              </a:rPr>
              <a:t>Project Title: </a:t>
            </a:r>
            <a:r>
              <a:rPr b="1" lang="en-US" sz="2600" spc="-1" strike="noStrike">
                <a:solidFill>
                  <a:srgbClr val="000000"/>
                </a:solidFill>
                <a:latin typeface="Calibri"/>
                <a:ea typeface="DejaVu Sans"/>
              </a:rPr>
              <a:t>Fog</a:t>
            </a:r>
            <a:r>
              <a:rPr b="1" lang="en-US" sz="2200" spc="-1" strike="noStrike">
                <a:solidFill>
                  <a:srgbClr val="000000"/>
                </a:solidFill>
                <a:latin typeface="Calibri"/>
                <a:ea typeface="DejaVu Sans"/>
              </a:rPr>
              <a:t>‑</a:t>
            </a:r>
            <a:r>
              <a:rPr b="1" lang="en-US" sz="2400" spc="-1" strike="noStrike">
                <a:solidFill>
                  <a:srgbClr val="000000"/>
                </a:solidFill>
                <a:latin typeface="Calibri"/>
                <a:ea typeface="DejaVu Sans"/>
              </a:rPr>
              <a:t>based Animal Intrusion Alert</a:t>
            </a:r>
            <a:r>
              <a:rPr b="1" lang="en-US" sz="2200" spc="-1" strike="noStrike">
                <a:solidFill>
                  <a:srgbClr val="000000"/>
                </a:solidFill>
                <a:latin typeface="Calibri"/>
                <a:ea typeface="DejaVu Sans"/>
              </a:rPr>
              <a:t>&amp; </a:t>
            </a:r>
            <a:r>
              <a:rPr b="1" lang="en-US" sz="2400" spc="-1" strike="noStrike">
                <a:solidFill>
                  <a:srgbClr val="000000"/>
                </a:solidFill>
                <a:latin typeface="Calibri"/>
                <a:ea typeface="DejaVu Sans"/>
              </a:rPr>
              <a:t>Field Monitoring System</a:t>
            </a:r>
            <a:endParaRPr b="0" lang="en-US" sz="2400" spc="-1" strike="noStrike">
              <a:latin typeface="Arial"/>
            </a:endParaRPr>
          </a:p>
          <a:p>
            <a:pPr algn="ctr">
              <a:lnSpc>
                <a:spcPct val="90000"/>
              </a:lnSpc>
              <a:spcBef>
                <a:spcPts val="1001"/>
              </a:spcBef>
            </a:pPr>
            <a:endParaRPr b="0" lang="en-US" sz="2400" spc="-1" strike="noStrike">
              <a:latin typeface="Arial"/>
            </a:endParaRPr>
          </a:p>
          <a:p>
            <a:pPr algn="ctr">
              <a:lnSpc>
                <a:spcPct val="90000"/>
              </a:lnSpc>
              <a:spcBef>
                <a:spcPts val="1001"/>
              </a:spcBef>
            </a:pPr>
            <a:r>
              <a:rPr b="1" lang="en-US" sz="2400" spc="-1" strike="noStrike">
                <a:solidFill>
                  <a:srgbClr val="000000"/>
                </a:solidFill>
                <a:latin typeface="Arial Black"/>
              </a:rPr>
              <a:t>Under the Guidance of : </a:t>
            </a:r>
            <a:r>
              <a:rPr b="1" lang="en-US" sz="2400" spc="-1" strike="noStrike">
                <a:solidFill>
                  <a:srgbClr val="000000"/>
                </a:solidFill>
                <a:latin typeface="Calibri"/>
              </a:rPr>
              <a:t>  Prof. Dhananjay Poul</a:t>
            </a:r>
            <a:endParaRPr b="0" lang="en-US" sz="2400" spc="-1" strike="noStrike">
              <a:latin typeface="Arial"/>
            </a:endParaRPr>
          </a:p>
          <a:p>
            <a:pPr algn="ctr">
              <a:lnSpc>
                <a:spcPct val="90000"/>
              </a:lnSpc>
              <a:spcBef>
                <a:spcPts val="1001"/>
              </a:spcBef>
            </a:pPr>
            <a:endParaRPr b="0" lang="en-US" sz="2400" spc="-1" strike="noStrike">
              <a:latin typeface="Arial"/>
            </a:endParaRPr>
          </a:p>
          <a:p>
            <a:pPr algn="ctr">
              <a:lnSpc>
                <a:spcPct val="90000"/>
              </a:lnSpc>
              <a:spcBef>
                <a:spcPts val="1001"/>
              </a:spcBef>
            </a:pPr>
            <a:endParaRPr b="0" lang="en-US" sz="2400" spc="-1" strike="noStrike">
              <a:latin typeface="Arial"/>
            </a:endParaRPr>
          </a:p>
          <a:p>
            <a:pPr algn="ctr">
              <a:lnSpc>
                <a:spcPct val="90000"/>
              </a:lnSpc>
              <a:spcBef>
                <a:spcPts val="1001"/>
              </a:spcBef>
            </a:pPr>
            <a:r>
              <a:rPr b="1" lang="en-US" sz="2400" spc="-1" strike="noStrike">
                <a:solidFill>
                  <a:srgbClr val="000000"/>
                </a:solidFill>
                <a:latin typeface="Arial Black"/>
              </a:rPr>
              <a:t>Presentation by :   </a:t>
            </a:r>
            <a:r>
              <a:rPr b="1" lang="en-US" sz="2400" spc="-1" strike="noStrike">
                <a:solidFill>
                  <a:srgbClr val="000000"/>
                </a:solidFill>
                <a:latin typeface="Times New Roman"/>
              </a:rPr>
              <a:t>1] Mayur Ichake </a:t>
            </a:r>
            <a:endParaRPr b="0" lang="en-US" sz="2400" spc="-1" strike="noStrike">
              <a:latin typeface="Arial"/>
            </a:endParaRPr>
          </a:p>
          <a:p>
            <a:pPr algn="ctr">
              <a:lnSpc>
                <a:spcPct val="90000"/>
              </a:lnSpc>
              <a:spcBef>
                <a:spcPts val="1001"/>
              </a:spcBef>
            </a:pPr>
            <a:r>
              <a:rPr b="1" lang="en-US" sz="2400" spc="-1" strike="noStrike">
                <a:solidFill>
                  <a:srgbClr val="000000"/>
                </a:solidFill>
                <a:latin typeface="Times New Roman"/>
              </a:rPr>
              <a:t>                                      </a:t>
            </a:r>
            <a:r>
              <a:rPr b="1" lang="en-US" sz="2400" spc="-1" strike="noStrike">
                <a:solidFill>
                  <a:srgbClr val="000000"/>
                </a:solidFill>
                <a:latin typeface="Times New Roman"/>
              </a:rPr>
              <a:t>2] Sahil Ichake </a:t>
            </a:r>
            <a:endParaRPr b="0" lang="en-US" sz="2400" spc="-1" strike="noStrike">
              <a:latin typeface="Arial"/>
            </a:endParaRPr>
          </a:p>
          <a:p>
            <a:pPr algn="ctr">
              <a:lnSpc>
                <a:spcPct val="90000"/>
              </a:lnSpc>
              <a:spcBef>
                <a:spcPts val="1001"/>
              </a:spcBef>
            </a:pPr>
            <a:r>
              <a:rPr b="1" lang="en-US" sz="2400" spc="-1" strike="noStrike">
                <a:solidFill>
                  <a:srgbClr val="000000"/>
                </a:solidFill>
                <a:latin typeface="Times New Roman"/>
              </a:rPr>
              <a:t>                                     </a:t>
            </a:r>
            <a:r>
              <a:rPr b="1" lang="en-US" sz="2400" spc="-1" strike="noStrike">
                <a:solidFill>
                  <a:srgbClr val="000000"/>
                </a:solidFill>
                <a:latin typeface="Times New Roman"/>
              </a:rPr>
              <a:t>3] Harsh Wala</a:t>
            </a:r>
            <a:endParaRPr b="0" lang="en-US" sz="2400" spc="-1" strike="noStrike">
              <a:latin typeface="Arial"/>
            </a:endParaRPr>
          </a:p>
          <a:p>
            <a:pPr algn="ctr">
              <a:lnSpc>
                <a:spcPct val="90000"/>
              </a:lnSpc>
              <a:spcBef>
                <a:spcPts val="1001"/>
              </a:spcBef>
            </a:pPr>
            <a:endParaRPr b="0" lang="en-US" sz="2400" spc="-1" strike="noStrike">
              <a:latin typeface="Arial"/>
            </a:endParaRPr>
          </a:p>
          <a:p>
            <a:pPr algn="ctr">
              <a:lnSpc>
                <a:spcPct val="90000"/>
              </a:lnSpc>
              <a:spcBef>
                <a:spcPts val="1001"/>
              </a:spcBef>
            </a:pPr>
            <a:endParaRPr b="0" lang="en-US" sz="2400" spc="-1" strike="noStrike">
              <a:latin typeface="Arial"/>
            </a:endParaRPr>
          </a:p>
          <a:p>
            <a:pPr algn="ctr">
              <a:lnSpc>
                <a:spcPct val="90000"/>
              </a:lnSpc>
              <a:spcBef>
                <a:spcPts val="1001"/>
              </a:spcBef>
            </a:pPr>
            <a:r>
              <a:rPr b="1" lang="en-US" sz="1700" spc="-1" strike="noStrike">
                <a:solidFill>
                  <a:srgbClr val="000000"/>
                </a:solidFill>
                <a:latin typeface="Arial Black"/>
              </a:rPr>
              <a:t>A.Y. 2025-26</a:t>
            </a:r>
            <a:endParaRPr b="0" lang="en-US" sz="1700" spc="-1" strike="noStrike">
              <a:latin typeface="Arial"/>
            </a:endParaRPr>
          </a:p>
        </p:txBody>
      </p:sp>
      <p:pic>
        <p:nvPicPr>
          <p:cNvPr id="90" name="Picture 3" descr=""/>
          <p:cNvPicPr/>
          <p:nvPr/>
        </p:nvPicPr>
        <p:blipFill>
          <a:blip r:embed="rId1"/>
          <a:stretch/>
        </p:blipFill>
        <p:spPr>
          <a:xfrm>
            <a:off x="191520" y="44640"/>
            <a:ext cx="1271160" cy="1078560"/>
          </a:xfrm>
          <a:prstGeom prst="rect">
            <a:avLst/>
          </a:prstGeom>
          <a:ln>
            <a:noFill/>
          </a:ln>
        </p:spPr>
      </p:pic>
      <p:pic>
        <p:nvPicPr>
          <p:cNvPr id="91" name="Picture 4" descr=""/>
          <p:cNvPicPr/>
          <p:nvPr/>
        </p:nvPicPr>
        <p:blipFill>
          <a:blip r:embed="rId2"/>
          <a:stretch/>
        </p:blipFill>
        <p:spPr>
          <a:xfrm>
            <a:off x="10710720" y="14040"/>
            <a:ext cx="1480680" cy="1109160"/>
          </a:xfrm>
          <a:prstGeom prst="rect">
            <a:avLst/>
          </a:prstGeom>
          <a:ln>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Shape 1"/>
          <p:cNvSpPr txBox="1"/>
          <p:nvPr/>
        </p:nvSpPr>
        <p:spPr>
          <a:xfrm>
            <a:off x="1463040" y="209160"/>
            <a:ext cx="9143640" cy="883440"/>
          </a:xfrm>
          <a:prstGeom prst="rect">
            <a:avLst/>
          </a:prstGeom>
          <a:noFill/>
          <a:ln>
            <a:noFill/>
          </a:ln>
        </p:spPr>
        <p:txBody>
          <a:bodyPr anchor="b">
            <a:noAutofit/>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sp>
        <p:nvSpPr>
          <p:cNvPr id="93" name="TextShape 2"/>
          <p:cNvSpPr txBox="1"/>
          <p:nvPr/>
        </p:nvSpPr>
        <p:spPr>
          <a:xfrm>
            <a:off x="1463040" y="1497960"/>
            <a:ext cx="9692280" cy="4841640"/>
          </a:xfrm>
          <a:prstGeom prst="rect">
            <a:avLst/>
          </a:prstGeom>
          <a:noFill/>
          <a:ln>
            <a:noFill/>
          </a:ln>
        </p:spPr>
        <p:txBody>
          <a:bodyPr>
            <a:normAutofit/>
          </a:bodyPr>
          <a:p>
            <a:pPr algn="ctr">
              <a:lnSpc>
                <a:spcPct val="90000"/>
              </a:lnSpc>
              <a:spcBef>
                <a:spcPts val="1001"/>
              </a:spcBef>
            </a:pPr>
            <a:r>
              <a:rPr b="1" lang="en-US" sz="2400" spc="-1" strike="noStrike">
                <a:solidFill>
                  <a:srgbClr val="000000"/>
                </a:solidFill>
                <a:latin typeface="Calibri"/>
              </a:rPr>
              <a:t>Presentation Flow</a:t>
            </a:r>
            <a:endParaRPr b="0" lang="en-US" sz="24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Introduction,  Project Objective,Goal</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ea typeface="DejaVu Sans"/>
              </a:rPr>
              <a:t>Problem Statement</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Literature Survey</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Block Diagram </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Specification</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Software used</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Implementation Details</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Advantages &amp; Applications</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 </a:t>
            </a:r>
            <a:r>
              <a:rPr b="0" lang="en-US" sz="1800" spc="-1" strike="noStrike">
                <a:solidFill>
                  <a:srgbClr val="000000"/>
                </a:solidFill>
                <a:latin typeface="Times New Roman"/>
              </a:rPr>
              <a:t>Future Scope </a:t>
            </a:r>
            <a:endParaRPr b="0" lang="en-US" sz="1800" spc="-1" strike="noStrike">
              <a:latin typeface="Arial"/>
            </a:endParaRPr>
          </a:p>
          <a:p>
            <a:pPr marL="457200" indent="-456840">
              <a:lnSpc>
                <a:spcPct val="110000"/>
              </a:lnSpc>
              <a:spcBef>
                <a:spcPts val="1001"/>
              </a:spcBef>
              <a:buClr>
                <a:srgbClr val="000000"/>
              </a:buClr>
              <a:buFont typeface="Arial"/>
              <a:buChar char="•"/>
            </a:pPr>
            <a:r>
              <a:rPr b="0" lang="en-US" sz="1800" spc="-1" strike="noStrike">
                <a:solidFill>
                  <a:srgbClr val="000000"/>
                </a:solidFill>
                <a:latin typeface="Times New Roman"/>
              </a:rPr>
              <a:t>References</a:t>
            </a:r>
            <a:endParaRPr b="0" lang="en-US" sz="1800" spc="-1" strike="noStrike">
              <a:latin typeface="Arial"/>
            </a:endParaRPr>
          </a:p>
          <a:p>
            <a:pPr algn="ctr">
              <a:lnSpc>
                <a:spcPct val="90000"/>
              </a:lnSpc>
              <a:spcBef>
                <a:spcPts val="1001"/>
              </a:spcBef>
            </a:pPr>
            <a:endParaRPr b="0" lang="en-US" sz="1800" spc="-1" strike="noStrike">
              <a:latin typeface="Arial"/>
            </a:endParaRPr>
          </a:p>
        </p:txBody>
      </p:sp>
      <p:pic>
        <p:nvPicPr>
          <p:cNvPr id="94" name="Picture 3" descr=""/>
          <p:cNvPicPr/>
          <p:nvPr/>
        </p:nvPicPr>
        <p:blipFill>
          <a:blip r:embed="rId1"/>
          <a:stretch/>
        </p:blipFill>
        <p:spPr>
          <a:xfrm>
            <a:off x="191520" y="44640"/>
            <a:ext cx="1271160" cy="1078560"/>
          </a:xfrm>
          <a:prstGeom prst="rect">
            <a:avLst/>
          </a:prstGeom>
          <a:ln>
            <a:noFill/>
          </a:ln>
        </p:spPr>
      </p:pic>
      <p:pic>
        <p:nvPicPr>
          <p:cNvPr id="95" name="Picture 4" descr=""/>
          <p:cNvPicPr/>
          <p:nvPr/>
        </p:nvPicPr>
        <p:blipFill>
          <a:blip r:embed="rId2"/>
          <a:stretch/>
        </p:blipFill>
        <p:spPr>
          <a:xfrm>
            <a:off x="10710720" y="14040"/>
            <a:ext cx="1480680" cy="110916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Shape 1"/>
          <p:cNvSpPr txBox="1"/>
          <p:nvPr/>
        </p:nvSpPr>
        <p:spPr>
          <a:xfrm>
            <a:off x="1463040" y="209160"/>
            <a:ext cx="9143640" cy="883440"/>
          </a:xfrm>
          <a:prstGeom prst="rect">
            <a:avLst/>
          </a:prstGeom>
          <a:noFill/>
          <a:ln>
            <a:noFill/>
          </a:ln>
        </p:spPr>
        <p:txBody>
          <a:bodyPr anchor="b">
            <a:normAutofit fontScale="34000"/>
          </a:bodyPr>
          <a:p>
            <a:pPr algn="ctr">
              <a:lnSpc>
                <a:spcPct val="90000"/>
              </a:lnSpc>
            </a:pPr>
            <a:r>
              <a:rPr b="1" lang="en-US" sz="3100" spc="-1" strike="noStrike">
                <a:solidFill>
                  <a:srgbClr val="000000"/>
                </a:solidFill>
                <a:latin typeface="Arial Black"/>
              </a:rPr>
              <a:t>Dhole Patil Education Society’s</a:t>
            </a:r>
            <a:br/>
            <a:r>
              <a:rPr b="1" lang="en-US" sz="3400" spc="-1" strike="noStrike">
                <a:solidFill>
                  <a:srgbClr val="000000"/>
                </a:solidFill>
                <a:latin typeface="Arial Black"/>
              </a:rPr>
              <a:t>Dhole Patil College of Engineering, Pune </a:t>
            </a:r>
            <a:endParaRPr b="0" lang="en-US" sz="3400" spc="-1" strike="noStrike">
              <a:solidFill>
                <a:srgbClr val="000000"/>
              </a:solidFill>
              <a:latin typeface="Calibri"/>
            </a:endParaRPr>
          </a:p>
        </p:txBody>
      </p:sp>
      <p:sp>
        <p:nvSpPr>
          <p:cNvPr id="97" name="TextShape 2"/>
          <p:cNvSpPr txBox="1"/>
          <p:nvPr/>
        </p:nvSpPr>
        <p:spPr>
          <a:xfrm>
            <a:off x="1097280" y="1804680"/>
            <a:ext cx="9945000" cy="4964760"/>
          </a:xfrm>
          <a:prstGeom prst="rect">
            <a:avLst/>
          </a:prstGeom>
          <a:noFill/>
          <a:ln>
            <a:noFill/>
          </a:ln>
        </p:spPr>
        <p:txBody>
          <a:bodyPr>
            <a:normAutofit fontScale="46000"/>
          </a:bodyPr>
          <a:p>
            <a:pPr marL="457200" indent="-456840" algn="just">
              <a:lnSpc>
                <a:spcPct val="120000"/>
              </a:lnSpc>
              <a:spcBef>
                <a:spcPts val="717"/>
              </a:spcBef>
              <a:buClr>
                <a:srgbClr val="000000"/>
              </a:buClr>
              <a:buFont typeface="Arial"/>
              <a:buChar char="•"/>
            </a:pPr>
            <a:r>
              <a:rPr b="1" lang="en-US" sz="3100" spc="-1" strike="noStrike">
                <a:solidFill>
                  <a:srgbClr val="000000"/>
                </a:solidFill>
                <a:latin typeface="Times New Roman"/>
              </a:rPr>
              <a:t>Project Objective </a:t>
            </a:r>
            <a:r>
              <a:rPr b="1" lang="en-US" sz="4000" spc="-1" strike="noStrike">
                <a:solidFill>
                  <a:srgbClr val="000000"/>
                </a:solidFill>
                <a:latin typeface="Times New Roman"/>
              </a:rPr>
              <a:t>:</a:t>
            </a:r>
            <a:r>
              <a:rPr b="0" lang="en-US" sz="3200" spc="-1" strike="noStrike">
                <a:solidFill>
                  <a:srgbClr val="000000"/>
                </a:solidFill>
                <a:latin typeface="Times New Roman"/>
              </a:rPr>
              <a:t>This project focuses on the design and development of a fog-based animal intrusion alert and field monitoring system aimed at protecting crops, reducing farmer losses, and ensuring efficient farm surveillance.</a:t>
            </a:r>
            <a:endParaRPr b="0" lang="en-US" sz="3200" spc="-1" strike="noStrike">
              <a:latin typeface="Arial"/>
              <a:ea typeface="Microsoft YaHei"/>
            </a:endParaRPr>
          </a:p>
          <a:p>
            <a:pPr marL="457200" indent="-456840" algn="just">
              <a:lnSpc>
                <a:spcPct val="120000"/>
              </a:lnSpc>
              <a:spcBef>
                <a:spcPts val="717"/>
              </a:spcBef>
              <a:buClr>
                <a:srgbClr val="000000"/>
              </a:buClr>
              <a:buFont typeface="Arial"/>
              <a:buChar char="•"/>
            </a:pPr>
            <a:r>
              <a:rPr b="1" lang="en-US" sz="2800" spc="-1" strike="noStrike">
                <a:latin typeface="Arial"/>
                <a:ea typeface="Microsoft YaHei"/>
              </a:rPr>
              <a:t>Technology Used  : </a:t>
            </a:r>
            <a:r>
              <a:rPr b="0" lang="en-US" sz="2800" spc="-1" strike="noStrike">
                <a:latin typeface="Arial"/>
                <a:ea typeface="Microsoft YaHei"/>
              </a:rPr>
              <a:t>The system uses Raspberry Pi, PIR and ultrasonic sensors, Pi </a:t>
            </a:r>
            <a:r>
              <a:rPr b="0" lang="en-US" sz="2600" spc="-1" strike="noStrike">
                <a:latin typeface="Arial"/>
                <a:ea typeface="Microsoft YaHei"/>
              </a:rPr>
              <a:t>Camera, TensorFlow Lite, GSM/LoRa</a:t>
            </a:r>
            <a:r>
              <a:rPr b="0" lang="en-US" sz="2800" spc="-1" strike="noStrike">
                <a:latin typeface="Arial"/>
                <a:ea typeface="Microsoft YaHei"/>
              </a:rPr>
              <a:t> modules, and solar power for reliable operation in remote areas.</a:t>
            </a:r>
            <a:endParaRPr b="0" lang="en-US" sz="2800" spc="-1" strike="noStrike">
              <a:latin typeface="Arial"/>
              <a:ea typeface="Microsoft YaHei"/>
            </a:endParaRPr>
          </a:p>
          <a:p>
            <a:pPr marL="457200" indent="-456840" algn="just">
              <a:lnSpc>
                <a:spcPct val="120000"/>
              </a:lnSpc>
              <a:spcBef>
                <a:spcPts val="717"/>
              </a:spcBef>
              <a:buClr>
                <a:srgbClr val="000000"/>
              </a:buClr>
              <a:buFont typeface="Arial"/>
              <a:buChar char="•"/>
            </a:pPr>
            <a:r>
              <a:rPr b="1" lang="en-US" sz="3200" spc="-1" strike="noStrike">
                <a:latin typeface="Arial"/>
                <a:ea typeface="Microsoft YaHei"/>
              </a:rPr>
              <a:t>Key Features :</a:t>
            </a:r>
            <a:r>
              <a:rPr b="0" lang="en-US" sz="3200" spc="-1" strike="noStrike">
                <a:latin typeface="Arial"/>
                <a:ea typeface="Microsoft YaHei"/>
              </a:rPr>
              <a:t> </a:t>
            </a:r>
            <a:r>
              <a:rPr b="0" lang="en-US" sz="2800" spc="-1" strike="noStrike">
                <a:latin typeface="Arial"/>
                <a:ea typeface="Microsoft YaHei"/>
              </a:rPr>
              <a:t>Automatically detect animal intrusion in farm fields.Classify animals using AI (TensorFlow Lite)..</a:t>
            </a:r>
            <a:endParaRPr b="0" lang="en-US" sz="2800" spc="-1" strike="noStrike">
              <a:latin typeface="Arial"/>
              <a:ea typeface="Microsoft YaHei"/>
            </a:endParaRPr>
          </a:p>
          <a:p>
            <a:pPr marL="457200" indent="-456840" algn="just">
              <a:lnSpc>
                <a:spcPct val="120000"/>
              </a:lnSpc>
              <a:spcBef>
                <a:spcPts val="717"/>
              </a:spcBef>
              <a:buClr>
                <a:srgbClr val="000000"/>
              </a:buClr>
              <a:buFont typeface="Arial"/>
              <a:buChar char="•"/>
            </a:pPr>
            <a:r>
              <a:rPr b="0" lang="en-US" sz="3200" spc="-1" strike="noStrike">
                <a:latin typeface="Arial"/>
                <a:ea typeface="Microsoft YaHei"/>
              </a:rPr>
              <a:t> </a:t>
            </a:r>
            <a:r>
              <a:rPr b="1" lang="en-US" sz="3200" spc="-1" strike="noStrike">
                <a:latin typeface="Arial"/>
                <a:ea typeface="Microsoft YaHei"/>
              </a:rPr>
              <a:t>Goal:</a:t>
            </a:r>
            <a:r>
              <a:rPr b="0" lang="en-US" sz="2600" spc="-1" strike="noStrike">
                <a:latin typeface="Arial"/>
                <a:ea typeface="Microsoft YaHei"/>
              </a:rPr>
              <a:t> </a:t>
            </a:r>
            <a:r>
              <a:rPr b="0" lang="en-US" sz="2800" spc="-1" strike="noStrike">
                <a:latin typeface="Arial"/>
                <a:ea typeface="Microsoft YaHei"/>
              </a:rPr>
              <a:t>Develop a cost-effective, energy-efficient, and scalable smart agriculture solution that minimizes crop damage and provides real-time protection and monitoring for farmers.</a:t>
            </a:r>
            <a:endParaRPr b="0" lang="en-US" sz="2800" spc="-1" strike="noStrike">
              <a:latin typeface="Arial"/>
              <a:ea typeface="Microsoft YaHei"/>
            </a:endParaRPr>
          </a:p>
          <a:p>
            <a:pPr>
              <a:lnSpc>
                <a:spcPct val="90000"/>
              </a:lnSpc>
              <a:spcBef>
                <a:spcPts val="717"/>
              </a:spcBef>
            </a:pPr>
            <a:endParaRPr b="0" lang="en-US" sz="2800" spc="-1" strike="noStrike">
              <a:latin typeface="Arial"/>
              <a:ea typeface="Microsoft YaHei"/>
            </a:endParaRPr>
          </a:p>
          <a:p>
            <a:pPr>
              <a:lnSpc>
                <a:spcPct val="90000"/>
              </a:lnSpc>
              <a:spcBef>
                <a:spcPts val="717"/>
              </a:spcBef>
            </a:pPr>
            <a:endParaRPr b="0" lang="en-US" sz="2800" spc="-1" strike="noStrike">
              <a:latin typeface="Arial"/>
              <a:ea typeface="Microsoft YaHei"/>
            </a:endParaRPr>
          </a:p>
          <a:p>
            <a:pPr algn="ctr">
              <a:lnSpc>
                <a:spcPct val="90000"/>
              </a:lnSpc>
              <a:spcBef>
                <a:spcPts val="717"/>
              </a:spcBef>
            </a:pPr>
            <a:endParaRPr b="0" lang="en-US" sz="2800" spc="-1" strike="noStrike">
              <a:latin typeface="Arial"/>
              <a:ea typeface="Microsoft YaHei"/>
            </a:endParaRPr>
          </a:p>
        </p:txBody>
      </p:sp>
      <p:pic>
        <p:nvPicPr>
          <p:cNvPr id="98" name="Picture 3" descr=""/>
          <p:cNvPicPr/>
          <p:nvPr/>
        </p:nvPicPr>
        <p:blipFill>
          <a:blip r:embed="rId1"/>
          <a:stretch/>
        </p:blipFill>
        <p:spPr>
          <a:xfrm>
            <a:off x="191520" y="14040"/>
            <a:ext cx="1271160" cy="1078560"/>
          </a:xfrm>
          <a:prstGeom prst="rect">
            <a:avLst/>
          </a:prstGeom>
          <a:ln>
            <a:noFill/>
          </a:ln>
        </p:spPr>
      </p:pic>
      <p:pic>
        <p:nvPicPr>
          <p:cNvPr id="99" name="Picture 4" descr=""/>
          <p:cNvPicPr/>
          <p:nvPr/>
        </p:nvPicPr>
        <p:blipFill>
          <a:blip r:embed="rId2"/>
          <a:stretch/>
        </p:blipFill>
        <p:spPr>
          <a:xfrm>
            <a:off x="10710720" y="14040"/>
            <a:ext cx="1480680" cy="1109160"/>
          </a:xfrm>
          <a:prstGeom prst="rect">
            <a:avLst/>
          </a:prstGeom>
          <a:ln>
            <a:noFill/>
          </a:ln>
        </p:spPr>
      </p:pic>
      <p:sp>
        <p:nvSpPr>
          <p:cNvPr id="100" name="CustomShape 3"/>
          <p:cNvSpPr/>
          <p:nvPr/>
        </p:nvSpPr>
        <p:spPr>
          <a:xfrm>
            <a:off x="4524480" y="1287720"/>
            <a:ext cx="3142800" cy="5169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800" spc="-1" strike="noStrike" u="sng">
                <a:solidFill>
                  <a:srgbClr val="000000"/>
                </a:solidFill>
                <a:uFillTx/>
                <a:latin typeface="Times New Roman"/>
              </a:rPr>
              <a:t>INTRODUCTION</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TextShape 1"/>
          <p:cNvSpPr txBox="1"/>
          <p:nvPr/>
        </p:nvSpPr>
        <p:spPr>
          <a:xfrm>
            <a:off x="1463040" y="209160"/>
            <a:ext cx="9143640" cy="883440"/>
          </a:xfrm>
          <a:prstGeom prst="rect">
            <a:avLst/>
          </a:prstGeom>
          <a:noFill/>
          <a:ln>
            <a:noFill/>
          </a:ln>
        </p:spPr>
        <p:txBody>
          <a:bodyPr anchor="b">
            <a:normAutofit fontScale="34000"/>
          </a:bodyPr>
          <a:p>
            <a:pPr algn="ctr">
              <a:lnSpc>
                <a:spcPct val="90000"/>
              </a:lnSpc>
            </a:pPr>
            <a:r>
              <a:rPr b="1" lang="en-US" sz="3100" spc="-1" strike="noStrike">
                <a:solidFill>
                  <a:srgbClr val="000000"/>
                </a:solidFill>
                <a:latin typeface="Arial Black"/>
              </a:rPr>
              <a:t>Dhole Patil Education Society’s</a:t>
            </a:r>
            <a:br/>
            <a:r>
              <a:rPr b="1" lang="en-US" sz="3400" spc="-1" strike="noStrike">
                <a:solidFill>
                  <a:srgbClr val="000000"/>
                </a:solidFill>
                <a:latin typeface="Arial Black"/>
              </a:rPr>
              <a:t>Dhole Patil College of Engineering, Pune </a:t>
            </a:r>
            <a:endParaRPr b="0" lang="en-US" sz="3400" spc="-1" strike="noStrike">
              <a:solidFill>
                <a:srgbClr val="000000"/>
              </a:solidFill>
              <a:latin typeface="Calibri"/>
            </a:endParaRPr>
          </a:p>
        </p:txBody>
      </p:sp>
      <p:sp>
        <p:nvSpPr>
          <p:cNvPr id="102" name="TextShape 2"/>
          <p:cNvSpPr txBox="1"/>
          <p:nvPr/>
        </p:nvSpPr>
        <p:spPr>
          <a:xfrm>
            <a:off x="1210680" y="2377440"/>
            <a:ext cx="9945000" cy="4964760"/>
          </a:xfrm>
          <a:prstGeom prst="rect">
            <a:avLst/>
          </a:prstGeom>
          <a:noFill/>
          <a:ln>
            <a:noFill/>
          </a:ln>
        </p:spPr>
        <p:txBody>
          <a:bodyPr>
            <a:normAutofit/>
          </a:bodyPr>
          <a:p>
            <a:pPr marL="457200" indent="-456840" algn="just">
              <a:lnSpc>
                <a:spcPct val="100000"/>
              </a:lnSpc>
              <a:spcBef>
                <a:spcPts val="1417"/>
              </a:spcBef>
              <a:buClr>
                <a:srgbClr val="000000"/>
              </a:buClr>
              <a:buFont typeface="Arial"/>
              <a:buChar char="•"/>
            </a:pPr>
            <a:r>
              <a:rPr b="0" lang="en-US" sz="2200" spc="-1" strike="noStrike">
                <a:solidFill>
                  <a:srgbClr val="000000"/>
                </a:solidFill>
                <a:latin typeface="Calibri"/>
                <a:ea typeface="DejaVu Sans"/>
              </a:rPr>
              <a:t>In rural and remote areas, there is a frequent issue of unauthorized intrusion by animals or strangers into farmland, restricted zones, or property boundaries. Traditional surveillance systems like CCTV require constant human monitoring and often fail at night or in poor weather conditions. Additionally, most systems lack real-time alerts, long-range communication, or automated threat detection.</a:t>
            </a:r>
            <a:endParaRPr b="0" lang="en-US" sz="2200" spc="-1" strike="noStrike">
              <a:latin typeface="Arial"/>
              <a:ea typeface="Microsoft YaHei"/>
            </a:endParaRPr>
          </a:p>
          <a:p>
            <a:pPr>
              <a:lnSpc>
                <a:spcPct val="90000"/>
              </a:lnSpc>
              <a:spcBef>
                <a:spcPts val="717"/>
              </a:spcBef>
            </a:pPr>
            <a:endParaRPr b="0" lang="en-US" sz="2200" spc="-1" strike="noStrike">
              <a:latin typeface="Arial"/>
              <a:ea typeface="Microsoft YaHei"/>
            </a:endParaRPr>
          </a:p>
          <a:p>
            <a:pPr>
              <a:lnSpc>
                <a:spcPct val="90000"/>
              </a:lnSpc>
              <a:spcBef>
                <a:spcPts val="717"/>
              </a:spcBef>
            </a:pPr>
            <a:endParaRPr b="0" lang="en-US" sz="2200" spc="-1" strike="noStrike">
              <a:latin typeface="Arial"/>
              <a:ea typeface="Microsoft YaHei"/>
            </a:endParaRPr>
          </a:p>
          <a:p>
            <a:pPr algn="ctr">
              <a:lnSpc>
                <a:spcPct val="90000"/>
              </a:lnSpc>
              <a:spcBef>
                <a:spcPts val="717"/>
              </a:spcBef>
            </a:pPr>
            <a:endParaRPr b="0" lang="en-US" sz="2200" spc="-1" strike="noStrike">
              <a:latin typeface="Arial"/>
              <a:ea typeface="Microsoft YaHei"/>
            </a:endParaRPr>
          </a:p>
        </p:txBody>
      </p:sp>
      <p:pic>
        <p:nvPicPr>
          <p:cNvPr id="103" name="Picture 3" descr=""/>
          <p:cNvPicPr/>
          <p:nvPr/>
        </p:nvPicPr>
        <p:blipFill>
          <a:blip r:embed="rId1"/>
          <a:stretch/>
        </p:blipFill>
        <p:spPr>
          <a:xfrm>
            <a:off x="191520" y="14040"/>
            <a:ext cx="1271160" cy="1078560"/>
          </a:xfrm>
          <a:prstGeom prst="rect">
            <a:avLst/>
          </a:prstGeom>
          <a:ln>
            <a:noFill/>
          </a:ln>
        </p:spPr>
      </p:pic>
      <p:pic>
        <p:nvPicPr>
          <p:cNvPr id="104" name="Picture 4" descr=""/>
          <p:cNvPicPr/>
          <p:nvPr/>
        </p:nvPicPr>
        <p:blipFill>
          <a:blip r:embed="rId2"/>
          <a:stretch/>
        </p:blipFill>
        <p:spPr>
          <a:xfrm>
            <a:off x="10710720" y="14040"/>
            <a:ext cx="1480680" cy="1109160"/>
          </a:xfrm>
          <a:prstGeom prst="rect">
            <a:avLst/>
          </a:prstGeom>
          <a:ln>
            <a:noFill/>
          </a:ln>
        </p:spPr>
      </p:pic>
      <p:sp>
        <p:nvSpPr>
          <p:cNvPr id="105" name="CustomShape 3"/>
          <p:cNvSpPr/>
          <p:nvPr/>
        </p:nvSpPr>
        <p:spPr>
          <a:xfrm>
            <a:off x="4524480" y="1287720"/>
            <a:ext cx="333936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4000" spc="-12" strike="noStrike">
                <a:solidFill>
                  <a:srgbClr val="000000"/>
                </a:solidFill>
                <a:latin typeface="Calibri"/>
                <a:ea typeface="DejaVu Sans"/>
              </a:rPr>
              <a:t> </a:t>
            </a:r>
            <a:r>
              <a:rPr b="1" lang="en-US" sz="2800" spc="-1" strike="noStrike">
                <a:solidFill>
                  <a:srgbClr val="000000"/>
                </a:solidFill>
                <a:latin typeface="Times New Roman"/>
                <a:ea typeface="DejaVu Sans"/>
              </a:rPr>
              <a:t>Problem Statement</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Shape 1"/>
          <p:cNvSpPr txBox="1"/>
          <p:nvPr/>
        </p:nvSpPr>
        <p:spPr>
          <a:xfrm>
            <a:off x="1463040" y="0"/>
            <a:ext cx="9187560" cy="1390680"/>
          </a:xfrm>
          <a:prstGeom prst="rect">
            <a:avLst/>
          </a:prstGeom>
          <a:noFill/>
          <a:ln>
            <a:noFill/>
          </a:ln>
        </p:spPr>
        <p:txBody>
          <a:bodyPr anchor="ctr">
            <a:normAutofit/>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pic>
        <p:nvPicPr>
          <p:cNvPr id="107" name="Picture 3" descr=""/>
          <p:cNvPicPr/>
          <p:nvPr/>
        </p:nvPicPr>
        <p:blipFill>
          <a:blip r:embed="rId1"/>
          <a:stretch/>
        </p:blipFill>
        <p:spPr>
          <a:xfrm>
            <a:off x="191520" y="44640"/>
            <a:ext cx="1271160" cy="1078560"/>
          </a:xfrm>
          <a:prstGeom prst="rect">
            <a:avLst/>
          </a:prstGeom>
          <a:ln>
            <a:noFill/>
          </a:ln>
        </p:spPr>
      </p:pic>
      <p:pic>
        <p:nvPicPr>
          <p:cNvPr id="108" name="Picture 5" descr=""/>
          <p:cNvPicPr/>
          <p:nvPr/>
        </p:nvPicPr>
        <p:blipFill>
          <a:blip r:embed="rId2"/>
          <a:stretch/>
        </p:blipFill>
        <p:spPr>
          <a:xfrm>
            <a:off x="10710720" y="14040"/>
            <a:ext cx="1480680" cy="1109160"/>
          </a:xfrm>
          <a:prstGeom prst="rect">
            <a:avLst/>
          </a:prstGeom>
          <a:ln>
            <a:noFill/>
          </a:ln>
        </p:spPr>
      </p:pic>
      <p:sp>
        <p:nvSpPr>
          <p:cNvPr id="109" name="CustomShape 2"/>
          <p:cNvSpPr/>
          <p:nvPr/>
        </p:nvSpPr>
        <p:spPr>
          <a:xfrm>
            <a:off x="4114800" y="1391040"/>
            <a:ext cx="3596760" cy="5169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u="sng">
                <a:solidFill>
                  <a:srgbClr val="000000"/>
                </a:solidFill>
                <a:uFillTx/>
                <a:latin typeface="Times New Roman"/>
              </a:rPr>
              <a:t>ABSTRACT</a:t>
            </a:r>
            <a:endParaRPr b="0" lang="en-US" sz="2800" spc="-1" strike="noStrike">
              <a:latin typeface="Arial"/>
            </a:endParaRPr>
          </a:p>
        </p:txBody>
      </p:sp>
      <p:sp>
        <p:nvSpPr>
          <p:cNvPr id="110" name="TextShape 3"/>
          <p:cNvSpPr txBox="1"/>
          <p:nvPr/>
        </p:nvSpPr>
        <p:spPr>
          <a:xfrm>
            <a:off x="1188720" y="2194560"/>
            <a:ext cx="10149840" cy="3317040"/>
          </a:xfrm>
          <a:prstGeom prst="rect">
            <a:avLst/>
          </a:prstGeom>
          <a:noFill/>
          <a:ln>
            <a:noFill/>
          </a:ln>
        </p:spPr>
        <p:txBody>
          <a:bodyPr lIns="90000" rIns="90000" tIns="45000" bIns="45000">
            <a:spAutoFit/>
          </a:bodyPr>
          <a:p>
            <a:pPr algn="just"/>
            <a:r>
              <a:rPr b="0" lang="en-US" sz="2200" spc="-1" strike="noStrike">
                <a:latin typeface="Arial"/>
              </a:rPr>
              <a:t>Agricultural fields in rural areas often suffer heavy crop losses due to animal intrusion. Traditional methods like fencing or manual guarding are labor-intensive, unreliable, and costly.This project proposes a fog-based animal intrusion alert and field monitoring system using Raspberry Pi, PIR sensors, ultrasonic sensors, and Pi Camera integrated with AI-based image classification (TensorFlow Lite). The system detects animal movement, identifies the type of intruder, and sends real-time alerts via GSM/LoRa to farmers. Additionally, a buzzer/LED deterrent and optional local audio alerts are triggered to protect the crops.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Shape 1"/>
          <p:cNvSpPr txBox="1"/>
          <p:nvPr/>
        </p:nvSpPr>
        <p:spPr>
          <a:xfrm>
            <a:off x="1677240" y="297720"/>
            <a:ext cx="9033120" cy="735840"/>
          </a:xfrm>
          <a:prstGeom prst="rect">
            <a:avLst/>
          </a:prstGeom>
          <a:noFill/>
          <a:ln>
            <a:noFill/>
          </a:ln>
        </p:spPr>
        <p:txBody>
          <a:bodyPr anchor="ctr">
            <a:noAutofit/>
          </a:bodyPr>
          <a:p>
            <a:pPr>
              <a:lnSpc>
                <a:spcPct val="90000"/>
              </a:lnSpc>
            </a:pPr>
            <a:r>
              <a:rPr b="1" lang="en-US" sz="3100" spc="-1" strike="noStrike">
                <a:solidFill>
                  <a:srgbClr val="000000"/>
                </a:solidFill>
                <a:latin typeface="Arial Black"/>
              </a:rPr>
              <a:t>          </a:t>
            </a: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 Dhole Patil College of Engineering, Pune </a:t>
            </a:r>
            <a:endParaRPr b="0" lang="en-US" sz="3100" spc="-1" strike="noStrike">
              <a:solidFill>
                <a:srgbClr val="000000"/>
              </a:solidFill>
              <a:latin typeface="Calibri"/>
            </a:endParaRPr>
          </a:p>
        </p:txBody>
      </p:sp>
      <p:pic>
        <p:nvPicPr>
          <p:cNvPr id="112" name="Content Placeholder 3" descr=""/>
          <p:cNvPicPr/>
          <p:nvPr/>
        </p:nvPicPr>
        <p:blipFill>
          <a:blip r:embed="rId1"/>
          <a:stretch/>
        </p:blipFill>
        <p:spPr>
          <a:xfrm>
            <a:off x="208440" y="141480"/>
            <a:ext cx="1273680" cy="1078560"/>
          </a:xfrm>
          <a:prstGeom prst="rect">
            <a:avLst/>
          </a:prstGeom>
          <a:ln>
            <a:noFill/>
          </a:ln>
        </p:spPr>
      </p:pic>
      <p:pic>
        <p:nvPicPr>
          <p:cNvPr id="113" name="Picture 4" descr=""/>
          <p:cNvPicPr/>
          <p:nvPr/>
        </p:nvPicPr>
        <p:blipFill>
          <a:blip r:embed="rId2"/>
          <a:stretch/>
        </p:blipFill>
        <p:spPr>
          <a:xfrm>
            <a:off x="10710720" y="110880"/>
            <a:ext cx="1481040" cy="1109160"/>
          </a:xfrm>
          <a:prstGeom prst="rect">
            <a:avLst/>
          </a:prstGeom>
          <a:ln>
            <a:noFill/>
          </a:ln>
        </p:spPr>
      </p:pic>
      <p:sp>
        <p:nvSpPr>
          <p:cNvPr id="114" name="CustomShape 2"/>
          <p:cNvSpPr/>
          <p:nvPr/>
        </p:nvSpPr>
        <p:spPr>
          <a:xfrm>
            <a:off x="4159080" y="1229040"/>
            <a:ext cx="4610520" cy="63864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1" lang="en-US" sz="1800" spc="-1" strike="noStrike" u="sng">
                <a:solidFill>
                  <a:srgbClr val="000000"/>
                </a:solidFill>
                <a:uFillTx/>
                <a:latin typeface="Times New Roman"/>
              </a:rPr>
              <a:t> </a:t>
            </a:r>
            <a:r>
              <a:rPr b="1" lang="en-US" sz="2800" spc="-1" strike="noStrike" u="sng">
                <a:solidFill>
                  <a:srgbClr val="000000"/>
                </a:solidFill>
                <a:uFillTx/>
                <a:latin typeface="Times New Roman"/>
              </a:rPr>
              <a:t>LITERATURE SURVEY</a:t>
            </a:r>
            <a:endParaRPr b="0" lang="en-US" sz="2800" spc="-1" strike="noStrike">
              <a:latin typeface="Arial"/>
            </a:endParaRPr>
          </a:p>
        </p:txBody>
      </p:sp>
      <p:sp>
        <p:nvSpPr>
          <p:cNvPr id="115" name="CustomShape 3"/>
          <p:cNvSpPr/>
          <p:nvPr/>
        </p:nvSpPr>
        <p:spPr>
          <a:xfrm>
            <a:off x="786600" y="2054880"/>
            <a:ext cx="10303920" cy="410184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nSpc>
                <a:spcPct val="100000"/>
              </a:lnSpc>
            </a:pPr>
            <a:r>
              <a:rPr b="0" lang="en-US" sz="2200" spc="-1" strike="noStrike">
                <a:solidFill>
                  <a:srgbClr val="000000"/>
                </a:solidFill>
                <a:latin typeface="Times New Roman"/>
              </a:rPr>
              <a:t>The application of AI and IoT in agriculture has grown significantly in recent years, aiming to improve crop protection, reduce manual intervention, and enhance precision farming. Several studies and developments have been conducted in the area of animal intrusion detection and smart farm monitoring systems.</a:t>
            </a:r>
            <a:endParaRPr b="0" lang="en-US" sz="2200" spc="-1" strike="noStrike">
              <a:latin typeface="Arial"/>
            </a:endParaRPr>
          </a:p>
          <a:p>
            <a:pPr>
              <a:lnSpc>
                <a:spcPct val="100000"/>
              </a:lnSpc>
            </a:pPr>
            <a:endParaRPr b="0" lang="en-US" sz="2200" spc="-1" strike="noStrike">
              <a:latin typeface="Arial"/>
            </a:endParaRPr>
          </a:p>
          <a:p>
            <a:pPr>
              <a:lnSpc>
                <a:spcPct val="100000"/>
              </a:lnSpc>
            </a:pPr>
            <a:r>
              <a:rPr b="1" lang="en-US" sz="2200" spc="-1" strike="noStrike">
                <a:solidFill>
                  <a:srgbClr val="000000"/>
                </a:solidFill>
                <a:latin typeface="Times New Roman"/>
              </a:rPr>
              <a:t>Fog-based Detection Systems</a:t>
            </a:r>
            <a:endParaRPr b="0" lang="en-US" sz="2200" spc="-1" strike="noStrike">
              <a:latin typeface="Arial"/>
            </a:endParaRPr>
          </a:p>
          <a:p>
            <a:pPr>
              <a:lnSpc>
                <a:spcPct val="100000"/>
              </a:lnSpc>
            </a:pPr>
            <a:r>
              <a:rPr b="0" lang="en-US" sz="2200" spc="-1" strike="noStrike">
                <a:solidFill>
                  <a:srgbClr val="000000"/>
                </a:solidFill>
                <a:latin typeface="Times New Roman"/>
              </a:rPr>
              <a:t>Researchers have explored fog and edge-computing models to process agricultural data locally, reducing latency and enabling real-time alerts. Singh et al. (2023) proposed a fog-based animal detection system using low-cost sensors and machine learning for crop protection.</a:t>
            </a:r>
            <a:endParaRPr b="0" lang="en-US" sz="2200" spc="-1" strike="noStrike">
              <a:latin typeface="Arial"/>
            </a:endParaRPr>
          </a:p>
          <a:p>
            <a:pPr algn="just">
              <a:lnSpc>
                <a:spcPct val="100000"/>
              </a:lnSpc>
            </a:pPr>
            <a:endParaRPr b="0" lang="en-US" sz="2200" spc="-1" strike="noStrike">
              <a:latin typeface="Arial"/>
            </a:endParaRPr>
          </a:p>
          <a:p>
            <a:pPr algn="just">
              <a:lnSpc>
                <a:spcPct val="100000"/>
              </a:lnSpc>
            </a:pP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TextShape 1"/>
          <p:cNvSpPr txBox="1"/>
          <p:nvPr/>
        </p:nvSpPr>
        <p:spPr>
          <a:xfrm>
            <a:off x="453240" y="191880"/>
            <a:ext cx="11353320" cy="942120"/>
          </a:xfrm>
          <a:prstGeom prst="rect">
            <a:avLst/>
          </a:prstGeom>
          <a:noFill/>
          <a:ln>
            <a:noFill/>
          </a:ln>
        </p:spPr>
        <p:txBody>
          <a:bodyPr anchor="ctr">
            <a:normAutofit fontScale="77000"/>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sp>
        <p:nvSpPr>
          <p:cNvPr id="117" name="TextShape 2"/>
          <p:cNvSpPr txBox="1"/>
          <p:nvPr/>
        </p:nvSpPr>
        <p:spPr>
          <a:xfrm>
            <a:off x="2011680" y="1739160"/>
            <a:ext cx="8412480" cy="4844520"/>
          </a:xfrm>
          <a:prstGeom prst="rect">
            <a:avLst/>
          </a:prstGeom>
          <a:noFill/>
          <a:ln>
            <a:noFill/>
          </a:ln>
        </p:spPr>
        <p:txBody>
          <a:bodyPr>
            <a:normAutofit/>
          </a:bodyPr>
          <a:p>
            <a:pPr marL="228600" indent="-228240">
              <a:lnSpc>
                <a:spcPct val="100000"/>
              </a:lnSpc>
              <a:spcBef>
                <a:spcPts val="1001"/>
              </a:spcBef>
              <a:buClr>
                <a:srgbClr val="000000"/>
              </a:buClr>
              <a:buFont typeface="Arial"/>
              <a:buChar char="•"/>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p:txBody>
      </p:sp>
      <p:pic>
        <p:nvPicPr>
          <p:cNvPr id="118" name="Picture 3" descr=""/>
          <p:cNvPicPr/>
          <p:nvPr/>
        </p:nvPicPr>
        <p:blipFill>
          <a:blip r:embed="rId1"/>
          <a:stretch/>
        </p:blipFill>
        <p:spPr>
          <a:xfrm>
            <a:off x="191520" y="44640"/>
            <a:ext cx="1271160" cy="1078560"/>
          </a:xfrm>
          <a:prstGeom prst="rect">
            <a:avLst/>
          </a:prstGeom>
          <a:ln>
            <a:noFill/>
          </a:ln>
        </p:spPr>
      </p:pic>
      <p:pic>
        <p:nvPicPr>
          <p:cNvPr id="119" name="Picture 4" descr=""/>
          <p:cNvPicPr/>
          <p:nvPr/>
        </p:nvPicPr>
        <p:blipFill>
          <a:blip r:embed="rId2"/>
          <a:stretch/>
        </p:blipFill>
        <p:spPr>
          <a:xfrm>
            <a:off x="10710720" y="14040"/>
            <a:ext cx="1480680" cy="1109160"/>
          </a:xfrm>
          <a:prstGeom prst="rect">
            <a:avLst/>
          </a:prstGeom>
          <a:ln>
            <a:noFill/>
          </a:ln>
        </p:spPr>
      </p:pic>
      <p:sp>
        <p:nvSpPr>
          <p:cNvPr id="120" name="CustomShape 3"/>
          <p:cNvSpPr/>
          <p:nvPr/>
        </p:nvSpPr>
        <p:spPr>
          <a:xfrm>
            <a:off x="3984120" y="1371600"/>
            <a:ext cx="4062600" cy="6991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4000" spc="-1" strike="noStrike">
                <a:solidFill>
                  <a:srgbClr val="000000"/>
                </a:solidFill>
                <a:latin typeface="Calibri"/>
                <a:ea typeface="DejaVu Sans"/>
              </a:rPr>
              <a:t>   </a:t>
            </a:r>
            <a:r>
              <a:rPr b="0" lang="en-US" sz="4000" spc="-1" strike="noStrike">
                <a:solidFill>
                  <a:srgbClr val="000000"/>
                </a:solidFill>
                <a:latin typeface="Calibri"/>
                <a:ea typeface="DejaVu Sans"/>
              </a:rPr>
              <a:t>Block Diagram</a:t>
            </a:r>
            <a:endParaRPr b="0" lang="en-US" sz="4000" spc="-1" strike="noStrike">
              <a:latin typeface="Arial"/>
            </a:endParaRPr>
          </a:p>
        </p:txBody>
      </p:sp>
      <p:pic>
        <p:nvPicPr>
          <p:cNvPr id="121" name="" descr=""/>
          <p:cNvPicPr/>
          <p:nvPr/>
        </p:nvPicPr>
        <p:blipFill>
          <a:blip r:embed="rId3"/>
          <a:stretch/>
        </p:blipFill>
        <p:spPr>
          <a:xfrm>
            <a:off x="3017520" y="2560320"/>
            <a:ext cx="6858000" cy="328896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TextShape 1"/>
          <p:cNvSpPr txBox="1"/>
          <p:nvPr/>
        </p:nvSpPr>
        <p:spPr>
          <a:xfrm>
            <a:off x="453240" y="191880"/>
            <a:ext cx="11353320" cy="942120"/>
          </a:xfrm>
          <a:prstGeom prst="rect">
            <a:avLst/>
          </a:prstGeom>
          <a:noFill/>
          <a:ln>
            <a:noFill/>
          </a:ln>
        </p:spPr>
        <p:txBody>
          <a:bodyPr anchor="ctr">
            <a:normAutofit fontScale="77000"/>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sp>
        <p:nvSpPr>
          <p:cNvPr id="123" name="TextShape 2"/>
          <p:cNvSpPr txBox="1"/>
          <p:nvPr/>
        </p:nvSpPr>
        <p:spPr>
          <a:xfrm>
            <a:off x="1371600" y="2194560"/>
            <a:ext cx="9784080" cy="4389120"/>
          </a:xfrm>
          <a:prstGeom prst="rect">
            <a:avLst/>
          </a:prstGeom>
          <a:noFill/>
          <a:ln>
            <a:noFill/>
          </a:ln>
        </p:spPr>
        <p:txBody>
          <a:bodyPr>
            <a:normAutofit/>
          </a:bodyPr>
          <a:p>
            <a:pPr marL="228600" indent="-228240">
              <a:lnSpc>
                <a:spcPct val="100000"/>
              </a:lnSpc>
              <a:spcBef>
                <a:spcPts val="434"/>
              </a:spcBef>
              <a:buClr>
                <a:srgbClr val="000000"/>
              </a:buClr>
              <a:buFont typeface="Arial"/>
              <a:buChar char="•"/>
            </a:pPr>
            <a:endParaRPr b="0" lang="en-US" sz="28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ea typeface="Microsoft YaHei"/>
              </a:rPr>
              <a:t>Microcontroller: Raspberry Pi 4</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Sensors: PIR Motion Sensor, Ultrasonic Sensor</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Camera: NoIR Pi Camera with IR LEDs (night vision)</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AI Accelerator: (Optional) USB Coral TPU for faster inference</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Communication Modules:  LoRa Module</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Alert System: Buzzer, Flash LED</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Power Supply: Solar Panel with Battery Backup</a:t>
            </a:r>
            <a:endParaRPr b="0" lang="en-US" sz="22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2200" spc="-1" strike="noStrike">
                <a:solidFill>
                  <a:srgbClr val="000000"/>
                </a:solidFill>
                <a:latin typeface="Times New Roman"/>
              </a:rPr>
              <a:t>Supporting Components: Jumper Wires, Voltage Regulators, Enclosure Box</a:t>
            </a:r>
            <a:endParaRPr b="0" lang="en-US" sz="2200" spc="-1" strike="noStrike">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b="0" lang="en-US" sz="2200" spc="-1" strike="noStrike">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b="0" lang="en-US" sz="2200" spc="-1" strike="noStrike">
              <a:solidFill>
                <a:srgbClr val="000000"/>
              </a:solidFill>
              <a:latin typeface="Calibri"/>
              <a:ea typeface="Microsoft YaHe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a:p>
            <a:pPr>
              <a:lnSpc>
                <a:spcPct val="100000"/>
              </a:lnSpc>
              <a:spcBef>
                <a:spcPts val="1001"/>
              </a:spcBef>
            </a:pPr>
            <a:endParaRPr b="0" lang="en-US" sz="2200" spc="-1" strike="noStrike">
              <a:solidFill>
                <a:srgbClr val="000000"/>
              </a:solidFill>
              <a:latin typeface="Calibri"/>
            </a:endParaRPr>
          </a:p>
        </p:txBody>
      </p:sp>
      <p:pic>
        <p:nvPicPr>
          <p:cNvPr id="124" name="Picture 3" descr=""/>
          <p:cNvPicPr/>
          <p:nvPr/>
        </p:nvPicPr>
        <p:blipFill>
          <a:blip r:embed="rId1"/>
          <a:stretch/>
        </p:blipFill>
        <p:spPr>
          <a:xfrm>
            <a:off x="191520" y="44640"/>
            <a:ext cx="1271160" cy="1078560"/>
          </a:xfrm>
          <a:prstGeom prst="rect">
            <a:avLst/>
          </a:prstGeom>
          <a:ln>
            <a:noFill/>
          </a:ln>
        </p:spPr>
      </p:pic>
      <p:pic>
        <p:nvPicPr>
          <p:cNvPr id="125" name="Picture 4" descr=""/>
          <p:cNvPicPr/>
          <p:nvPr/>
        </p:nvPicPr>
        <p:blipFill>
          <a:blip r:embed="rId2"/>
          <a:stretch/>
        </p:blipFill>
        <p:spPr>
          <a:xfrm>
            <a:off x="10710720" y="14040"/>
            <a:ext cx="1480680" cy="1109160"/>
          </a:xfrm>
          <a:prstGeom prst="rect">
            <a:avLst/>
          </a:prstGeom>
          <a:ln>
            <a:noFill/>
          </a:ln>
        </p:spPr>
      </p:pic>
      <p:sp>
        <p:nvSpPr>
          <p:cNvPr id="126" name="CustomShape 3"/>
          <p:cNvSpPr/>
          <p:nvPr/>
        </p:nvSpPr>
        <p:spPr>
          <a:xfrm>
            <a:off x="4114800" y="1494720"/>
            <a:ext cx="4062600" cy="5169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800" spc="-1" strike="noStrike" u="sng">
                <a:solidFill>
                  <a:srgbClr val="000000"/>
                </a:solidFill>
                <a:uFillTx/>
                <a:latin typeface="Times New Roman"/>
              </a:rPr>
              <a:t>SPECIFICATIONS</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Shape 1"/>
          <p:cNvSpPr txBox="1"/>
          <p:nvPr/>
        </p:nvSpPr>
        <p:spPr>
          <a:xfrm>
            <a:off x="453240" y="191880"/>
            <a:ext cx="11353320" cy="942120"/>
          </a:xfrm>
          <a:prstGeom prst="rect">
            <a:avLst/>
          </a:prstGeom>
          <a:noFill/>
          <a:ln>
            <a:noFill/>
          </a:ln>
        </p:spPr>
        <p:txBody>
          <a:bodyPr anchor="ctr">
            <a:normAutofit fontScale="77000"/>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sp>
        <p:nvSpPr>
          <p:cNvPr id="128" name="TextShape 2"/>
          <p:cNvSpPr txBox="1"/>
          <p:nvPr/>
        </p:nvSpPr>
        <p:spPr>
          <a:xfrm>
            <a:off x="1371600" y="2194560"/>
            <a:ext cx="9784080" cy="4389120"/>
          </a:xfrm>
          <a:prstGeom prst="rect">
            <a:avLst/>
          </a:prstGeom>
          <a:noFill/>
          <a:ln>
            <a:noFill/>
          </a:ln>
        </p:spPr>
        <p:txBody>
          <a:bodyPr>
            <a:normAutofit/>
          </a:bodyPr>
          <a:p>
            <a:pPr marL="228600" indent="-228240">
              <a:lnSpc>
                <a:spcPct val="100000"/>
              </a:lnSpc>
              <a:spcBef>
                <a:spcPts val="434"/>
              </a:spcBef>
              <a:buClr>
                <a:srgbClr val="000000"/>
              </a:buClr>
              <a:buFont typeface="Arial"/>
              <a:buChar char="•"/>
            </a:pPr>
            <a:endParaRPr b="0" lang="en-US" sz="2800" spc="-1" strike="noStrike">
              <a:solidFill>
                <a:srgbClr val="000000"/>
              </a:solidFill>
              <a:latin typeface="Calibri"/>
              <a:ea typeface="Microsoft YaHei"/>
            </a:endParaRPr>
          </a:p>
          <a:p>
            <a:pPr marL="228600" indent="-228240">
              <a:lnSpc>
                <a:spcPct val="150000"/>
              </a:lnSpc>
              <a:buClr>
                <a:srgbClr val="000000"/>
              </a:buClr>
              <a:buFont typeface="Arial"/>
              <a:buChar char="•"/>
            </a:pPr>
            <a:r>
              <a:rPr b="0" lang="en-US" sz="1800" spc="-1" strike="noStrike">
                <a:solidFill>
                  <a:srgbClr val="000000"/>
                </a:solidFill>
                <a:latin typeface="Arial"/>
                <a:ea typeface="DejaVu Sans"/>
              </a:rPr>
              <a:t>Raspberry Pi </a:t>
            </a:r>
            <a:endParaRPr b="0" lang="en-US" sz="1800" spc="-1" strike="noStrike">
              <a:solidFill>
                <a:srgbClr val="000000"/>
              </a:solidFill>
              <a:latin typeface="Calibri"/>
              <a:ea typeface="Microsoft YaHei"/>
            </a:endParaRPr>
          </a:p>
          <a:p>
            <a:pPr marL="228600" indent="-228240">
              <a:lnSpc>
                <a:spcPct val="150000"/>
              </a:lnSpc>
              <a:buClr>
                <a:srgbClr val="000000"/>
              </a:buClr>
              <a:buFont typeface="Arial"/>
              <a:buChar char="•"/>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Python 3.9+</a:t>
            </a:r>
            <a:endParaRPr b="0" lang="en-US" sz="1800" spc="-1" strike="noStrike">
              <a:solidFill>
                <a:srgbClr val="000000"/>
              </a:solidFill>
              <a:latin typeface="Calibri"/>
              <a:ea typeface="Microsoft YaHei"/>
            </a:endParaRPr>
          </a:p>
          <a:p>
            <a:pPr marL="228600" indent="-228240">
              <a:lnSpc>
                <a:spcPct val="150000"/>
              </a:lnSpc>
              <a:buClr>
                <a:srgbClr val="000000"/>
              </a:buClr>
              <a:buFont typeface="Arial"/>
              <a:buChar char="•"/>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OpenCV</a:t>
            </a:r>
            <a:endParaRPr b="0" lang="en-US" sz="1800" spc="-1" strike="noStrike">
              <a:solidFill>
                <a:srgbClr val="000000"/>
              </a:solidFill>
              <a:latin typeface="Calibri"/>
              <a:ea typeface="Microsoft YaHei"/>
            </a:endParaRPr>
          </a:p>
          <a:p>
            <a:pPr marL="228600" indent="-228240">
              <a:lnSpc>
                <a:spcPct val="150000"/>
              </a:lnSpc>
              <a:buClr>
                <a:srgbClr val="000000"/>
              </a:buClr>
              <a:buFont typeface="Arial"/>
              <a:buChar char="•"/>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TensorFlow Lite</a:t>
            </a:r>
            <a:endParaRPr b="0" lang="en-US" sz="1800" spc="-1" strike="noStrike">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b="0" lang="en-US" sz="1800" spc="-1" strike="noStrike">
                <a:solidFill>
                  <a:srgbClr val="000000"/>
                </a:solidFill>
                <a:latin typeface="Arial"/>
                <a:ea typeface="DejaVu Sans"/>
              </a:rPr>
              <a:t>Deep learning</a:t>
            </a:r>
            <a:r>
              <a:rPr b="0" lang="en-US" sz="2800" spc="-1" strike="noStrike">
                <a:solidFill>
                  <a:srgbClr val="000000"/>
                </a:solidFill>
                <a:latin typeface="Calibri"/>
                <a:ea typeface="Microsoft YaHei"/>
              </a:rPr>
              <a:t>s</a:t>
            </a:r>
            <a:endParaRPr b="0" lang="en-US" sz="2800" spc="-1" strike="noStrike">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b="0" lang="en-US" sz="2800" spc="-1" strike="noStrike">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b="0" lang="en-US" sz="2800" spc="-1" strike="noStrike">
              <a:solidFill>
                <a:srgbClr val="000000"/>
              </a:solidFill>
              <a:latin typeface="Calibri"/>
              <a:ea typeface="Microsoft YaHe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a:p>
            <a:pPr>
              <a:lnSpc>
                <a:spcPct val="100000"/>
              </a:lnSpc>
              <a:spcBef>
                <a:spcPts val="1001"/>
              </a:spcBef>
            </a:pPr>
            <a:endParaRPr b="0" lang="en-US" sz="2800" spc="-1" strike="noStrike">
              <a:solidFill>
                <a:srgbClr val="000000"/>
              </a:solidFill>
              <a:latin typeface="Calibri"/>
            </a:endParaRPr>
          </a:p>
        </p:txBody>
      </p:sp>
      <p:pic>
        <p:nvPicPr>
          <p:cNvPr id="129" name="Picture 3" descr=""/>
          <p:cNvPicPr/>
          <p:nvPr/>
        </p:nvPicPr>
        <p:blipFill>
          <a:blip r:embed="rId1"/>
          <a:stretch/>
        </p:blipFill>
        <p:spPr>
          <a:xfrm>
            <a:off x="191520" y="44640"/>
            <a:ext cx="1271160" cy="1078560"/>
          </a:xfrm>
          <a:prstGeom prst="rect">
            <a:avLst/>
          </a:prstGeom>
          <a:ln>
            <a:noFill/>
          </a:ln>
        </p:spPr>
      </p:pic>
      <p:pic>
        <p:nvPicPr>
          <p:cNvPr id="130" name="Picture 4" descr=""/>
          <p:cNvPicPr/>
          <p:nvPr/>
        </p:nvPicPr>
        <p:blipFill>
          <a:blip r:embed="rId2"/>
          <a:stretch/>
        </p:blipFill>
        <p:spPr>
          <a:xfrm>
            <a:off x="10710720" y="14040"/>
            <a:ext cx="1480680" cy="1109160"/>
          </a:xfrm>
          <a:prstGeom prst="rect">
            <a:avLst/>
          </a:prstGeom>
          <a:ln>
            <a:noFill/>
          </a:ln>
        </p:spPr>
      </p:pic>
      <p:sp>
        <p:nvSpPr>
          <p:cNvPr id="131" name="CustomShape 3"/>
          <p:cNvSpPr/>
          <p:nvPr/>
        </p:nvSpPr>
        <p:spPr>
          <a:xfrm>
            <a:off x="4114800" y="1494720"/>
            <a:ext cx="4062600" cy="516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800" spc="-1" strike="noStrike">
                <a:solidFill>
                  <a:srgbClr val="000000"/>
                </a:solidFill>
                <a:latin typeface="Arial"/>
                <a:ea typeface="DejaVu Sans"/>
              </a:rPr>
              <a:t>      </a:t>
            </a:r>
            <a:r>
              <a:rPr b="0" lang="en-US" sz="2800" spc="-1" strike="noStrike">
                <a:solidFill>
                  <a:srgbClr val="000000"/>
                </a:solidFill>
                <a:latin typeface="Arial"/>
                <a:ea typeface="DejaVu Sans"/>
              </a:rPr>
              <a:t>Software Used</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TextShape 1"/>
          <p:cNvSpPr txBox="1"/>
          <p:nvPr/>
        </p:nvSpPr>
        <p:spPr>
          <a:xfrm>
            <a:off x="838080" y="-40680"/>
            <a:ext cx="10515240" cy="1325160"/>
          </a:xfrm>
          <a:prstGeom prst="rect">
            <a:avLst/>
          </a:prstGeom>
          <a:noFill/>
          <a:ln>
            <a:noFill/>
          </a:ln>
        </p:spPr>
        <p:txBody>
          <a:bodyPr anchor="ctr">
            <a:normAutofit/>
          </a:bodyPr>
          <a:p>
            <a:pPr algn="ctr">
              <a:lnSpc>
                <a:spcPct val="90000"/>
              </a:lnSpc>
            </a:pPr>
            <a:r>
              <a:rPr b="1" lang="en-US" sz="3100" spc="-1" strike="noStrike">
                <a:solidFill>
                  <a:srgbClr val="000000"/>
                </a:solidFill>
                <a:latin typeface="Arial Black"/>
              </a:rPr>
              <a:t>        </a:t>
            </a: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pic>
        <p:nvPicPr>
          <p:cNvPr id="133" name="Picture 6" descr=""/>
          <p:cNvPicPr/>
          <p:nvPr/>
        </p:nvPicPr>
        <p:blipFill>
          <a:blip r:embed="rId1"/>
          <a:stretch/>
        </p:blipFill>
        <p:spPr>
          <a:xfrm>
            <a:off x="161280" y="48960"/>
            <a:ext cx="1353600" cy="1146240"/>
          </a:xfrm>
          <a:prstGeom prst="rect">
            <a:avLst/>
          </a:prstGeom>
          <a:ln>
            <a:noFill/>
          </a:ln>
        </p:spPr>
      </p:pic>
      <p:pic>
        <p:nvPicPr>
          <p:cNvPr id="134" name="Picture 8" descr=""/>
          <p:cNvPicPr/>
          <p:nvPr/>
        </p:nvPicPr>
        <p:blipFill>
          <a:blip r:embed="rId2"/>
          <a:stretch/>
        </p:blipFill>
        <p:spPr>
          <a:xfrm>
            <a:off x="10591200" y="85680"/>
            <a:ext cx="1600560" cy="1198800"/>
          </a:xfrm>
          <a:prstGeom prst="rect">
            <a:avLst/>
          </a:prstGeom>
          <a:ln>
            <a:noFill/>
          </a:ln>
        </p:spPr>
      </p:pic>
      <p:sp>
        <p:nvSpPr>
          <p:cNvPr id="135" name="CustomShape 2"/>
          <p:cNvSpPr/>
          <p:nvPr/>
        </p:nvSpPr>
        <p:spPr>
          <a:xfrm>
            <a:off x="4093920" y="1131480"/>
            <a:ext cx="3687480" cy="4561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400" spc="-1" strike="noStrike" u="sng">
                <a:solidFill>
                  <a:srgbClr val="000000"/>
                </a:solidFill>
                <a:uFillTx/>
                <a:latin typeface="Calibri"/>
              </a:rPr>
              <a:t>IMPLIMENTAION DETAIL </a:t>
            </a:r>
            <a:endParaRPr b="0" lang="en-US" sz="2400" spc="-1" strike="noStrike">
              <a:latin typeface="Arial"/>
            </a:endParaRPr>
          </a:p>
        </p:txBody>
      </p:sp>
      <p:sp>
        <p:nvSpPr>
          <p:cNvPr id="136" name="CustomShape 3"/>
          <p:cNvSpPr/>
          <p:nvPr/>
        </p:nvSpPr>
        <p:spPr>
          <a:xfrm>
            <a:off x="1005840" y="1920240"/>
            <a:ext cx="10241280" cy="44474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1) Raspberry Pi 4 – works as the main controller.</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2) PIR Sensor – connected to GPIO pins for motion detection.</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3) Ultrasonic Sensor – connected to GPIO pins for distance measurement.</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4) Pi Camera (NoIR) – connected via camera interface for capturing images.</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5) LoRa Module – connected via SPI/I2C for long-range wireless communication.</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6) Buzzer / LED – connected to GPIO pins for local alert system.</a:t>
            </a:r>
            <a:endParaRPr b="0" lang="en-US" sz="2200" spc="-1" strike="noStrike">
              <a:latin typeface="Arial"/>
            </a:endParaRPr>
          </a:p>
          <a:p>
            <a:pPr>
              <a:lnSpc>
                <a:spcPct val="100000"/>
              </a:lnSpc>
            </a:pPr>
            <a:endParaRPr b="0" lang="en-US" sz="2200" spc="-1" strike="noStrike">
              <a:latin typeface="Arial"/>
            </a:endParaRPr>
          </a:p>
          <a:p>
            <a:pPr>
              <a:lnSpc>
                <a:spcPct val="100000"/>
              </a:lnSpc>
            </a:pPr>
            <a:r>
              <a:rPr b="0" lang="en-US" sz="2200" spc="-1" strike="noStrike">
                <a:solidFill>
                  <a:srgbClr val="000000"/>
                </a:solidFill>
                <a:latin typeface="Times New Roman"/>
              </a:rPr>
              <a:t> </a:t>
            </a:r>
            <a:r>
              <a:rPr b="0" lang="en-US" sz="2200" spc="-1" strike="noStrike">
                <a:solidFill>
                  <a:srgbClr val="000000"/>
                </a:solidFill>
                <a:latin typeface="Times New Roman"/>
              </a:rPr>
              <a:t>7) Solar Panel with Battery – supplies power to Raspberry Pi and all modules.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TextShape 1"/>
          <p:cNvSpPr txBox="1"/>
          <p:nvPr/>
        </p:nvSpPr>
        <p:spPr>
          <a:xfrm>
            <a:off x="1362600" y="71280"/>
            <a:ext cx="10286640" cy="814680"/>
          </a:xfrm>
          <a:prstGeom prst="rect">
            <a:avLst/>
          </a:prstGeom>
          <a:noFill/>
          <a:ln>
            <a:noFill/>
          </a:ln>
        </p:spPr>
        <p:txBody>
          <a:bodyPr anchor="ctr">
            <a:normAutofit fontScale="42000"/>
          </a:bodyPr>
          <a:p>
            <a:pPr>
              <a:lnSpc>
                <a:spcPct val="90000"/>
              </a:lnSpc>
            </a:pPr>
            <a:r>
              <a:rPr b="1" lang="en-US" sz="4400" spc="-1" strike="noStrike">
                <a:solidFill>
                  <a:srgbClr val="000000"/>
                </a:solidFill>
                <a:latin typeface="Arial Black"/>
              </a:rPr>
              <a:t>         </a:t>
            </a:r>
            <a:r>
              <a:rPr b="1" lang="en-US" sz="3400" spc="-1" strike="noStrike">
                <a:solidFill>
                  <a:srgbClr val="000000"/>
                </a:solidFill>
                <a:latin typeface="Arial Black"/>
              </a:rPr>
              <a:t>Dhole Patil Education Society’s</a:t>
            </a:r>
            <a:br/>
            <a:r>
              <a:rPr b="1" lang="en-US" sz="3400" spc="-1" strike="noStrike">
                <a:solidFill>
                  <a:srgbClr val="000000"/>
                </a:solidFill>
                <a:latin typeface="Arial Black"/>
              </a:rPr>
              <a:t> Dhole Patil College of Engineering, Pune </a:t>
            </a:r>
            <a:endParaRPr b="0" lang="en-US" sz="3400" spc="-1" strike="noStrike">
              <a:solidFill>
                <a:srgbClr val="000000"/>
              </a:solidFill>
              <a:latin typeface="Calibri"/>
            </a:endParaRPr>
          </a:p>
        </p:txBody>
      </p:sp>
      <p:pic>
        <p:nvPicPr>
          <p:cNvPr id="138" name="Picture 3" descr=""/>
          <p:cNvPicPr/>
          <p:nvPr/>
        </p:nvPicPr>
        <p:blipFill>
          <a:blip r:embed="rId1"/>
          <a:stretch/>
        </p:blipFill>
        <p:spPr>
          <a:xfrm>
            <a:off x="49680" y="0"/>
            <a:ext cx="1312560" cy="1110600"/>
          </a:xfrm>
          <a:prstGeom prst="rect">
            <a:avLst/>
          </a:prstGeom>
          <a:ln>
            <a:noFill/>
          </a:ln>
        </p:spPr>
      </p:pic>
      <p:pic>
        <p:nvPicPr>
          <p:cNvPr id="139" name="Picture 4" descr=""/>
          <p:cNvPicPr/>
          <p:nvPr/>
        </p:nvPicPr>
        <p:blipFill>
          <a:blip r:embed="rId2"/>
          <a:stretch/>
        </p:blipFill>
        <p:spPr>
          <a:xfrm>
            <a:off x="10502280" y="0"/>
            <a:ext cx="1639440" cy="1225080"/>
          </a:xfrm>
          <a:prstGeom prst="rect">
            <a:avLst/>
          </a:prstGeom>
          <a:ln>
            <a:noFill/>
          </a:ln>
        </p:spPr>
      </p:pic>
      <p:sp>
        <p:nvSpPr>
          <p:cNvPr id="140" name="CustomShape 2"/>
          <p:cNvSpPr/>
          <p:nvPr/>
        </p:nvSpPr>
        <p:spPr>
          <a:xfrm>
            <a:off x="4769280" y="1117080"/>
            <a:ext cx="3023640" cy="82764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pPr>
            <a:r>
              <a:rPr b="1" lang="en-US" sz="2800" spc="-1" strike="noStrike" u="sng">
                <a:solidFill>
                  <a:srgbClr val="000000"/>
                </a:solidFill>
                <a:uFillTx/>
                <a:latin typeface="Calibri"/>
              </a:rPr>
              <a:t>ADVANTAGES</a:t>
            </a:r>
            <a:endParaRPr b="0" lang="en-US" sz="2800" spc="-1" strike="noStrike">
              <a:latin typeface="Arial"/>
            </a:endParaRPr>
          </a:p>
        </p:txBody>
      </p:sp>
      <p:sp>
        <p:nvSpPr>
          <p:cNvPr id="141" name="CustomShape 3"/>
          <p:cNvSpPr/>
          <p:nvPr/>
        </p:nvSpPr>
        <p:spPr>
          <a:xfrm>
            <a:off x="1290240" y="2042280"/>
            <a:ext cx="9407880" cy="4774680"/>
          </a:xfrm>
          <a:prstGeom prst="rect">
            <a:avLst/>
          </a:prstGeom>
          <a:ln>
            <a:solidFill>
              <a:schemeClr val="bg1"/>
            </a:solidFill>
          </a:ln>
        </p:spPr>
        <p:style>
          <a:lnRef idx="2">
            <a:schemeClr val="dk1"/>
          </a:lnRef>
          <a:fillRef idx="1">
            <a:schemeClr val="lt1"/>
          </a:fillRef>
          <a:effectRef idx="0">
            <a:schemeClr val="dk1"/>
          </a:effectRef>
          <a:fontRef idx="minor"/>
        </p:style>
        <p:txBody>
          <a:bodyPr lIns="90000" rIns="90000" tIns="45000" bIns="45000" anchor="ctr">
            <a:noAutofit/>
          </a:bodyPr>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AI-based accurate threat detection (YOLOv5)</a:t>
            </a:r>
            <a:endParaRPr b="0" lang="en-US" sz="2000" spc="-1" strike="noStrike">
              <a:latin typeface="Arial"/>
            </a:endParaRPr>
          </a:p>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Wireless data transfer via LoRa</a:t>
            </a:r>
            <a:endParaRPr b="0" lang="en-US" sz="2000" spc="-1" strike="noStrike">
              <a:latin typeface="Arial"/>
            </a:endParaRPr>
          </a:p>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Remote control and monitoring through Blynk app</a:t>
            </a:r>
            <a:endParaRPr b="0" lang="en-US" sz="2000" spc="-1" strike="noStrike">
              <a:latin typeface="Arial"/>
            </a:endParaRPr>
          </a:p>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Energy-efficient with solar power</a:t>
            </a:r>
            <a:endParaRPr b="0" lang="en-US" sz="2000" spc="-1" strike="noStrike">
              <a:latin typeface="Arial"/>
            </a:endParaRPr>
          </a:p>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Easy integration with cloud (Firebase)</a:t>
            </a:r>
            <a:endParaRPr b="0" lang="en-US" sz="2000" spc="-1" strike="noStrike">
              <a:latin typeface="Arial"/>
            </a:endParaRPr>
          </a:p>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Cost-effective and scalable</a:t>
            </a:r>
            <a:endParaRPr b="0" lang="en-US" sz="2000" spc="-1" strike="noStrike">
              <a:latin typeface="Arial"/>
            </a:endParaRPr>
          </a:p>
          <a:p>
            <a:pPr marL="343080" indent="-342720">
              <a:lnSpc>
                <a:spcPct val="150000"/>
              </a:lnSpc>
              <a:spcBef>
                <a:spcPts val="96"/>
              </a:spcBef>
              <a:buClr>
                <a:srgbClr val="000000"/>
              </a:buClr>
              <a:buFont typeface="Arial"/>
              <a:buChar char="•"/>
            </a:pPr>
            <a:r>
              <a:rPr b="0" lang="en-US" sz="2000" spc="-1" strike="noStrike">
                <a:solidFill>
                  <a:srgbClr val="000000"/>
                </a:solidFill>
                <a:latin typeface="Calibri"/>
                <a:ea typeface="DejaVu Sans"/>
              </a:rPr>
              <a:t>Real-time alert system with siren and LEDs</a:t>
            </a:r>
            <a:endParaRPr b="0" lang="en-US" sz="2000" spc="-1" strike="noStrike">
              <a:latin typeface="Arial"/>
            </a:endParaRPr>
          </a:p>
          <a:p>
            <a:pPr marL="343080" indent="-342720">
              <a:lnSpc>
                <a:spcPct val="250000"/>
              </a:lnSpc>
              <a:buClr>
                <a:srgbClr val="000000"/>
              </a:buClr>
              <a:buFont typeface="Arial"/>
              <a:buChar char="•"/>
            </a:pPr>
            <a:endParaRPr b="0" lang="en-US" sz="2000" spc="-1" strike="noStrike">
              <a:latin typeface="Arial"/>
            </a:endParaRPr>
          </a:p>
          <a:p>
            <a:pPr>
              <a:lnSpc>
                <a:spcPct val="250000"/>
              </a:lnSpc>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TextShape 1"/>
          <p:cNvSpPr txBox="1"/>
          <p:nvPr/>
        </p:nvSpPr>
        <p:spPr>
          <a:xfrm>
            <a:off x="1155960" y="-15120"/>
            <a:ext cx="10295280" cy="1138320"/>
          </a:xfrm>
          <a:prstGeom prst="rect">
            <a:avLst/>
          </a:prstGeom>
          <a:noFill/>
          <a:ln>
            <a:noFill/>
          </a:ln>
        </p:spPr>
        <p:txBody>
          <a:bodyPr anchor="ctr">
            <a:normAutofit/>
          </a:bodyPr>
          <a:p>
            <a:pPr algn="ctr">
              <a:lnSpc>
                <a:spcPct val="90000"/>
              </a:lnSpc>
            </a:pP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sp>
        <p:nvSpPr>
          <p:cNvPr id="143" name="TextShape 2"/>
          <p:cNvSpPr txBox="1"/>
          <p:nvPr/>
        </p:nvSpPr>
        <p:spPr>
          <a:xfrm>
            <a:off x="1280160" y="2108160"/>
            <a:ext cx="10073160" cy="3789360"/>
          </a:xfrm>
          <a:prstGeom prst="rect">
            <a:avLst/>
          </a:prstGeom>
          <a:noFill/>
          <a:ln>
            <a:noFill/>
          </a:ln>
        </p:spPr>
        <p:txBody>
          <a:bodyPr>
            <a:normAutofit/>
          </a:bodyPr>
          <a:p>
            <a:pPr marL="228600" indent="-228240">
              <a:lnSpc>
                <a:spcPct val="100000"/>
              </a:lnSpc>
              <a:spcBef>
                <a:spcPts val="1001"/>
              </a:spcBef>
              <a:buClr>
                <a:srgbClr val="000000"/>
              </a:buClr>
              <a:buFont typeface="Arial"/>
              <a:buChar char="•"/>
            </a:pPr>
            <a:r>
              <a:rPr b="0" lang="en-US" sz="2200" spc="-1" strike="noStrike">
                <a:solidFill>
                  <a:srgbClr val="000000"/>
                </a:solidFill>
                <a:latin typeface="Times New Roman"/>
              </a:rPr>
              <a:t>Crop protection from animals</a:t>
            </a:r>
            <a:endParaRPr b="0" lang="en-US" sz="2200" spc="-1" strike="noStrike">
              <a:solidFill>
                <a:srgbClr val="000000"/>
              </a:solidFill>
              <a:latin typeface="Calibri"/>
            </a:endParaRPr>
          </a:p>
          <a:p>
            <a:pPr marL="228600" indent="-228240">
              <a:lnSpc>
                <a:spcPct val="100000"/>
              </a:lnSpc>
              <a:spcBef>
                <a:spcPts val="1001"/>
              </a:spcBef>
              <a:buClr>
                <a:srgbClr val="000000"/>
              </a:buClr>
              <a:buFont typeface="Arial"/>
              <a:buChar char="•"/>
            </a:pPr>
            <a:r>
              <a:rPr b="0" lang="en-US" sz="2200" spc="-1" strike="noStrike">
                <a:solidFill>
                  <a:srgbClr val="000000"/>
                </a:solidFill>
                <a:latin typeface="Times New Roman"/>
              </a:rPr>
              <a:t>Smart agriculture farm monitoring</a:t>
            </a:r>
            <a:endParaRPr b="0" lang="en-US" sz="2200" spc="-1" strike="noStrike">
              <a:solidFill>
                <a:srgbClr val="000000"/>
              </a:solidFill>
              <a:latin typeface="Calibri"/>
            </a:endParaRPr>
          </a:p>
          <a:p>
            <a:pPr marL="228600" indent="-228240">
              <a:lnSpc>
                <a:spcPct val="100000"/>
              </a:lnSpc>
              <a:spcBef>
                <a:spcPts val="1001"/>
              </a:spcBef>
              <a:buClr>
                <a:srgbClr val="000000"/>
              </a:buClr>
              <a:buFont typeface="Arial"/>
              <a:buChar char="•"/>
            </a:pPr>
            <a:r>
              <a:rPr b="0" lang="en-US" sz="2200" spc="-1" strike="noStrike">
                <a:solidFill>
                  <a:srgbClr val="000000"/>
                </a:solidFill>
                <a:latin typeface="Times New Roman"/>
              </a:rPr>
              <a:t>Wildlife monitoring</a:t>
            </a:r>
            <a:endParaRPr b="0" lang="en-US" sz="2200" spc="-1" strike="noStrike">
              <a:solidFill>
                <a:srgbClr val="000000"/>
              </a:solidFill>
              <a:latin typeface="Calibri"/>
            </a:endParaRPr>
          </a:p>
          <a:p>
            <a:pPr marL="228600" indent="-228240">
              <a:lnSpc>
                <a:spcPct val="100000"/>
              </a:lnSpc>
              <a:spcBef>
                <a:spcPts val="1001"/>
              </a:spcBef>
              <a:buClr>
                <a:srgbClr val="000000"/>
              </a:buClr>
              <a:buFont typeface="Arial"/>
              <a:buChar char="•"/>
            </a:pPr>
            <a:r>
              <a:rPr b="0" lang="en-US" sz="2200" spc="-1" strike="noStrike">
                <a:solidFill>
                  <a:srgbClr val="000000"/>
                </a:solidFill>
                <a:latin typeface="Times New Roman"/>
              </a:rPr>
              <a:t>Farm security against intruders</a:t>
            </a:r>
            <a:endParaRPr b="0" lang="en-US" sz="2200" spc="-1" strike="noStrike">
              <a:solidFill>
                <a:srgbClr val="000000"/>
              </a:solidFill>
              <a:latin typeface="Calibri"/>
            </a:endParaRPr>
          </a:p>
          <a:p>
            <a:pPr marL="228600" indent="-228240">
              <a:lnSpc>
                <a:spcPct val="100000"/>
              </a:lnSpc>
              <a:spcBef>
                <a:spcPts val="1001"/>
              </a:spcBef>
              <a:buClr>
                <a:srgbClr val="000000"/>
              </a:buClr>
              <a:buFont typeface="Arial"/>
              <a:buChar char="•"/>
            </a:pPr>
            <a:r>
              <a:rPr b="0" lang="en-US" sz="2200" spc="-1" strike="noStrike">
                <a:solidFill>
                  <a:srgbClr val="000000"/>
                </a:solidFill>
                <a:latin typeface="Times New Roman"/>
              </a:rPr>
              <a:t>Remote farming support</a:t>
            </a:r>
            <a:endParaRPr b="0" lang="en-US" sz="2200" spc="-1" strike="noStrike">
              <a:solidFill>
                <a:srgbClr val="000000"/>
              </a:solidFill>
              <a:latin typeface="Calibri"/>
            </a:endParaRPr>
          </a:p>
          <a:p>
            <a:pPr marL="228600" indent="-228240">
              <a:lnSpc>
                <a:spcPct val="100000"/>
              </a:lnSpc>
              <a:spcBef>
                <a:spcPts val="1001"/>
              </a:spcBef>
              <a:buClr>
                <a:srgbClr val="000000"/>
              </a:buClr>
              <a:buFont typeface="Arial"/>
              <a:buChar char="•"/>
            </a:pPr>
            <a:r>
              <a:rPr b="0" lang="en-US" sz="2200" spc="-1" strike="noStrike">
                <a:solidFill>
                  <a:srgbClr val="000000"/>
                </a:solidFill>
                <a:latin typeface="Times New Roman"/>
              </a:rPr>
              <a:t>Custom farming services</a:t>
            </a:r>
            <a:r>
              <a:rPr b="0" lang="en-US" sz="2400" spc="-1" strike="noStrike">
                <a:solidFill>
                  <a:srgbClr val="000000"/>
                </a:solidFill>
                <a:latin typeface="Times New Roman"/>
              </a:rPr>
              <a:t>.</a:t>
            </a:r>
            <a:endParaRPr b="0" lang="en-US" sz="2400" spc="-1" strike="noStrike">
              <a:solidFill>
                <a:srgbClr val="000000"/>
              </a:solidFill>
              <a:latin typeface="Calibri"/>
            </a:endParaRPr>
          </a:p>
          <a:p>
            <a:pPr marL="228600" indent="-228240">
              <a:lnSpc>
                <a:spcPct val="100000"/>
              </a:lnSpc>
              <a:spcBef>
                <a:spcPts val="1001"/>
              </a:spcBef>
              <a:buClr>
                <a:srgbClr val="000000"/>
              </a:buClr>
              <a:buFont typeface="Arial"/>
              <a:buChar char="•"/>
            </a:pPr>
            <a:endParaRPr b="0" lang="en-US" sz="2400" spc="-1" strike="noStrike">
              <a:solidFill>
                <a:srgbClr val="000000"/>
              </a:solidFill>
              <a:latin typeface="Calibri"/>
            </a:endParaRPr>
          </a:p>
          <a:p>
            <a:pPr>
              <a:lnSpc>
                <a:spcPct val="200000"/>
              </a:lnSpc>
              <a:spcBef>
                <a:spcPts val="1001"/>
              </a:spcBef>
            </a:pPr>
            <a:endParaRPr b="0" lang="en-US" sz="2400" spc="-1" strike="noStrike">
              <a:solidFill>
                <a:srgbClr val="000000"/>
              </a:solidFill>
              <a:latin typeface="Calibri"/>
            </a:endParaRPr>
          </a:p>
          <a:p>
            <a:pPr>
              <a:lnSpc>
                <a:spcPct val="90000"/>
              </a:lnSpc>
              <a:spcBef>
                <a:spcPts val="1001"/>
              </a:spcBef>
            </a:pPr>
            <a:endParaRPr b="0" lang="en-US" sz="2400" spc="-1" strike="noStrike">
              <a:solidFill>
                <a:srgbClr val="000000"/>
              </a:solidFill>
              <a:latin typeface="Calibri"/>
            </a:endParaRPr>
          </a:p>
        </p:txBody>
      </p:sp>
      <p:pic>
        <p:nvPicPr>
          <p:cNvPr id="144" name="Picture 3" descr=""/>
          <p:cNvPicPr/>
          <p:nvPr/>
        </p:nvPicPr>
        <p:blipFill>
          <a:blip r:embed="rId1"/>
          <a:stretch/>
        </p:blipFill>
        <p:spPr>
          <a:xfrm>
            <a:off x="191520" y="44640"/>
            <a:ext cx="1271160" cy="1078560"/>
          </a:xfrm>
          <a:prstGeom prst="rect">
            <a:avLst/>
          </a:prstGeom>
          <a:ln>
            <a:noFill/>
          </a:ln>
        </p:spPr>
      </p:pic>
      <p:pic>
        <p:nvPicPr>
          <p:cNvPr id="145" name="Picture 4" descr=""/>
          <p:cNvPicPr/>
          <p:nvPr/>
        </p:nvPicPr>
        <p:blipFill>
          <a:blip r:embed="rId2"/>
          <a:stretch/>
        </p:blipFill>
        <p:spPr>
          <a:xfrm>
            <a:off x="10710720" y="14040"/>
            <a:ext cx="1480680" cy="1109160"/>
          </a:xfrm>
          <a:prstGeom prst="rect">
            <a:avLst/>
          </a:prstGeom>
          <a:ln>
            <a:noFill/>
          </a:ln>
        </p:spPr>
      </p:pic>
      <p:sp>
        <p:nvSpPr>
          <p:cNvPr id="146" name="CustomShape 3"/>
          <p:cNvSpPr/>
          <p:nvPr/>
        </p:nvSpPr>
        <p:spPr>
          <a:xfrm>
            <a:off x="4839480" y="1354320"/>
            <a:ext cx="3601080" cy="5169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u="sng">
                <a:solidFill>
                  <a:srgbClr val="000000"/>
                </a:solidFill>
                <a:uFillTx/>
                <a:latin typeface="Calibri"/>
              </a:rPr>
              <a:t>APPLICATION</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TextShape 1"/>
          <p:cNvSpPr txBox="1"/>
          <p:nvPr/>
        </p:nvSpPr>
        <p:spPr>
          <a:xfrm>
            <a:off x="698760" y="44640"/>
            <a:ext cx="10525320" cy="1429560"/>
          </a:xfrm>
          <a:prstGeom prst="rect">
            <a:avLst/>
          </a:prstGeom>
          <a:noFill/>
          <a:ln>
            <a:noFill/>
          </a:ln>
        </p:spPr>
        <p:txBody>
          <a:bodyPr anchor="ctr">
            <a:normAutofit/>
          </a:bodyPr>
          <a:p>
            <a:pPr algn="ctr">
              <a:lnSpc>
                <a:spcPct val="90000"/>
              </a:lnSpc>
            </a:pPr>
            <a:r>
              <a:rPr b="1" lang="en-US" sz="24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pic>
        <p:nvPicPr>
          <p:cNvPr id="148" name="Picture 3" descr=""/>
          <p:cNvPicPr/>
          <p:nvPr/>
        </p:nvPicPr>
        <p:blipFill>
          <a:blip r:embed="rId1"/>
          <a:stretch/>
        </p:blipFill>
        <p:spPr>
          <a:xfrm>
            <a:off x="191520" y="44640"/>
            <a:ext cx="1271160" cy="1078560"/>
          </a:xfrm>
          <a:prstGeom prst="rect">
            <a:avLst/>
          </a:prstGeom>
          <a:ln>
            <a:noFill/>
          </a:ln>
        </p:spPr>
      </p:pic>
      <p:pic>
        <p:nvPicPr>
          <p:cNvPr id="149" name="Picture 4" descr=""/>
          <p:cNvPicPr/>
          <p:nvPr/>
        </p:nvPicPr>
        <p:blipFill>
          <a:blip r:embed="rId2"/>
          <a:stretch/>
        </p:blipFill>
        <p:spPr>
          <a:xfrm>
            <a:off x="10710720" y="14040"/>
            <a:ext cx="1480680" cy="1109160"/>
          </a:xfrm>
          <a:prstGeom prst="rect">
            <a:avLst/>
          </a:prstGeom>
          <a:ln>
            <a:noFill/>
          </a:ln>
        </p:spPr>
      </p:pic>
      <p:sp>
        <p:nvSpPr>
          <p:cNvPr id="150" name="CustomShape 2"/>
          <p:cNvSpPr/>
          <p:nvPr/>
        </p:nvSpPr>
        <p:spPr>
          <a:xfrm>
            <a:off x="2687400" y="1505160"/>
            <a:ext cx="5396760" cy="5169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u="sng">
                <a:solidFill>
                  <a:srgbClr val="000000"/>
                </a:solidFill>
                <a:uFillTx/>
                <a:latin typeface="Calibri"/>
              </a:rPr>
              <a:t>FUTURE SCOPE</a:t>
            </a:r>
            <a:endParaRPr b="0" lang="en-US" sz="2800" spc="-1" strike="noStrike">
              <a:latin typeface="Arial"/>
            </a:endParaRPr>
          </a:p>
        </p:txBody>
      </p:sp>
      <p:sp>
        <p:nvSpPr>
          <p:cNvPr id="151" name="CustomShape 3"/>
          <p:cNvSpPr/>
          <p:nvPr/>
        </p:nvSpPr>
        <p:spPr>
          <a:xfrm>
            <a:off x="1463040" y="2314800"/>
            <a:ext cx="10515240" cy="4350960"/>
          </a:xfrm>
          <a:prstGeom prst="rect">
            <a:avLst/>
          </a:prstGeom>
          <a:noFill/>
          <a:ln>
            <a:noFill/>
          </a:ln>
        </p:spPr>
        <p:style>
          <a:lnRef idx="0"/>
          <a:fillRef idx="0"/>
          <a:effectRef idx="0"/>
          <a:fontRef idx="minor"/>
        </p:style>
        <p:txBody>
          <a:bodyPr>
            <a:normAutofit/>
          </a:bodyPr>
          <a:p>
            <a:pPr marL="228600" indent="-22824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Integration with drones for aerial farm surveillance</a:t>
            </a:r>
            <a:endParaRPr b="0" lang="en-US" sz="2400" spc="-1" strike="noStrike">
              <a:latin typeface="Arial"/>
            </a:endParaRPr>
          </a:p>
          <a:p>
            <a:pPr marL="228600" indent="-22824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Multi-animal classification using advanced AI models</a:t>
            </a:r>
            <a:endParaRPr b="0" lang="en-US" sz="2400" spc="-1" strike="noStrike">
              <a:latin typeface="Arial"/>
            </a:endParaRPr>
          </a:p>
          <a:p>
            <a:pPr marL="228600" indent="-22824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Voice-enabled mobile applications for farmers</a:t>
            </a:r>
            <a:endParaRPr b="0" lang="en-US" sz="2400" spc="-1" strike="noStrike">
              <a:latin typeface="Arial"/>
            </a:endParaRPr>
          </a:p>
          <a:p>
            <a:pPr marL="228600" indent="-22824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Improved solar power storage for 24/7 operation</a:t>
            </a:r>
            <a:endParaRPr b="0" lang="en-US" sz="2400" spc="-1" strike="noStrike">
              <a:latin typeface="Arial"/>
            </a:endParaRPr>
          </a:p>
          <a:p>
            <a:pPr marL="228600" indent="-22824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IoT integration with smart irrigation systems</a:t>
            </a:r>
            <a:endParaRPr b="0" lang="en-US" sz="2400" spc="-1" strike="noStrike">
              <a:latin typeface="Arial"/>
            </a:endParaRPr>
          </a:p>
          <a:p>
            <a:pPr marL="228600" indent="-228240">
              <a:lnSpc>
                <a:spcPct val="100000"/>
              </a:lnSpc>
              <a:spcBef>
                <a:spcPts val="1001"/>
              </a:spcBef>
              <a:buClr>
                <a:srgbClr val="000000"/>
              </a:buClr>
              <a:buFont typeface="Arial"/>
              <a:buChar char="•"/>
            </a:pPr>
            <a:r>
              <a:rPr b="0" lang="en-US" sz="2400" spc="-1" strike="noStrike">
                <a:solidFill>
                  <a:srgbClr val="000000"/>
                </a:solidFill>
                <a:latin typeface="Times New Roman"/>
                <a:ea typeface="Tahoma"/>
              </a:rPr>
              <a:t>Scalability for large commercial farm</a:t>
            </a:r>
            <a:r>
              <a:rPr b="0" lang="en-US" sz="2600" spc="-1" strike="noStrike">
                <a:solidFill>
                  <a:srgbClr val="000000"/>
                </a:solidFill>
                <a:latin typeface="Times New Roman"/>
                <a:ea typeface="Tahoma"/>
              </a:rPr>
              <a:t>s</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Shape 1"/>
          <p:cNvSpPr txBox="1"/>
          <p:nvPr/>
        </p:nvSpPr>
        <p:spPr>
          <a:xfrm>
            <a:off x="1956600" y="168480"/>
            <a:ext cx="8455320" cy="912600"/>
          </a:xfrm>
          <a:prstGeom prst="rect">
            <a:avLst/>
          </a:prstGeom>
          <a:noFill/>
          <a:ln>
            <a:noFill/>
          </a:ln>
        </p:spPr>
        <p:txBody>
          <a:bodyPr anchor="ctr">
            <a:normAutofit fontScale="40000"/>
          </a:bodyPr>
          <a:p>
            <a:pPr>
              <a:lnSpc>
                <a:spcPct val="90000"/>
              </a:lnSpc>
            </a:pPr>
            <a:r>
              <a:rPr b="1" lang="en-US" sz="3100" spc="-1" strike="noStrike">
                <a:solidFill>
                  <a:srgbClr val="000000"/>
                </a:solidFill>
                <a:latin typeface="Arial Black"/>
              </a:rPr>
              <a:t>          </a:t>
            </a:r>
            <a:r>
              <a:rPr b="1" lang="en-US" sz="31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pic>
        <p:nvPicPr>
          <p:cNvPr id="153" name="Picture 3" descr=""/>
          <p:cNvPicPr/>
          <p:nvPr/>
        </p:nvPicPr>
        <p:blipFill>
          <a:blip r:embed="rId1"/>
          <a:stretch/>
        </p:blipFill>
        <p:spPr>
          <a:xfrm>
            <a:off x="201240" y="0"/>
            <a:ext cx="1273680" cy="1078560"/>
          </a:xfrm>
          <a:prstGeom prst="rect">
            <a:avLst/>
          </a:prstGeom>
          <a:ln>
            <a:noFill/>
          </a:ln>
        </p:spPr>
      </p:pic>
      <p:pic>
        <p:nvPicPr>
          <p:cNvPr id="154" name="Picture 4" descr=""/>
          <p:cNvPicPr/>
          <p:nvPr/>
        </p:nvPicPr>
        <p:blipFill>
          <a:blip r:embed="rId2"/>
          <a:stretch/>
        </p:blipFill>
        <p:spPr>
          <a:xfrm>
            <a:off x="10706760" y="3960"/>
            <a:ext cx="1481040" cy="1109160"/>
          </a:xfrm>
          <a:prstGeom prst="rect">
            <a:avLst/>
          </a:prstGeom>
          <a:ln>
            <a:noFill/>
          </a:ln>
        </p:spPr>
      </p:pic>
      <p:sp>
        <p:nvSpPr>
          <p:cNvPr id="155" name="CustomShape 2"/>
          <p:cNvSpPr/>
          <p:nvPr/>
        </p:nvSpPr>
        <p:spPr>
          <a:xfrm>
            <a:off x="4670280" y="1078920"/>
            <a:ext cx="2841120" cy="84276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rIns="90000" tIns="45000" bIns="45000" anchor="ctr">
            <a:noAutofit/>
          </a:bodyPr>
          <a:p>
            <a:pPr>
              <a:lnSpc>
                <a:spcPct val="110000"/>
              </a:lnSpc>
            </a:pPr>
            <a:r>
              <a:rPr b="1" lang="en-US" sz="2800" spc="-1" strike="noStrike">
                <a:solidFill>
                  <a:srgbClr val="000000"/>
                </a:solidFill>
                <a:latin typeface="Times New Roman"/>
              </a:rPr>
              <a:t>REFRENCES</a:t>
            </a:r>
            <a:endParaRPr b="0" lang="en-US" sz="2800" spc="-1" strike="noStrike">
              <a:latin typeface="Arial"/>
            </a:endParaRPr>
          </a:p>
        </p:txBody>
      </p:sp>
      <p:sp>
        <p:nvSpPr>
          <p:cNvPr id="156" name="CustomShape 3"/>
          <p:cNvSpPr/>
          <p:nvPr/>
        </p:nvSpPr>
        <p:spPr>
          <a:xfrm>
            <a:off x="951480" y="2036880"/>
            <a:ext cx="10387080" cy="3935520"/>
          </a:xfrm>
          <a:prstGeom prst="rect">
            <a:avLst/>
          </a:prstGeom>
          <a:noFill/>
          <a:ln>
            <a:noFill/>
          </a:ln>
        </p:spPr>
        <p:style>
          <a:lnRef idx="0"/>
          <a:fillRef idx="0"/>
          <a:effectRef idx="0"/>
          <a:fontRef idx="minor"/>
        </p:style>
        <p:txBody>
          <a:bodyPr lIns="90000" rIns="90000" tIns="45000" bIns="45000">
            <a:spAutoFit/>
          </a:bodyPr>
          <a:p>
            <a:pPr marL="216000" indent="-21600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Singh et al., "Fog-based Animal Detection System for Crop Protection", IEEE Xplore, 2023</a:t>
            </a:r>
            <a:endParaRPr b="0" lang="en-US" sz="2000" spc="-1" strike="noStrike">
              <a:latin typeface="Arial"/>
            </a:endParaRPr>
          </a:p>
          <a:p>
            <a:pPr marL="216000" indent="-21600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Kumar, R., "Edge AI in Agricultural Monitoring", Springer, 2021</a:t>
            </a:r>
            <a:endParaRPr b="0" lang="en-US" sz="2000" spc="-1" strike="noStrike">
              <a:latin typeface="Arial"/>
            </a:endParaRPr>
          </a:p>
          <a:p>
            <a:pPr marL="216000" indent="-21600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https://agmarknet.gov.in</a:t>
            </a:r>
            <a:endParaRPr b="0" lang="en-US" sz="2000" spc="-1" strike="noStrike">
              <a:latin typeface="Arial"/>
            </a:endParaRPr>
          </a:p>
          <a:p>
            <a:pPr marL="216000" indent="-216000">
              <a:lnSpc>
                <a:spcPct val="150000"/>
              </a:lnSpc>
              <a:spcBef>
                <a:spcPts val="96"/>
              </a:spcBef>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hlinkClick r:id="rId3"/>
              </a:rPr>
              <a:t>https://www.tensorflow.org/lite</a:t>
            </a:r>
            <a:endParaRPr b="0" lang="en-US" sz="2000" spc="-1" strike="noStrike">
              <a:latin typeface="Arial"/>
            </a:endParaRPr>
          </a:p>
          <a:p>
            <a:pPr marL="216000" indent="-216000">
              <a:lnSpc>
                <a:spcPct val="100000"/>
              </a:lnSpc>
              <a:buClr>
                <a:srgbClr val="000000"/>
              </a:buClr>
              <a:buFont typeface="StarSymbol"/>
              <a:buAutoNum type="arabicParen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https://www.raspberrypi.com</a:t>
            </a:r>
            <a:endParaRPr b="0" lang="en-US" sz="2000" spc="-1" strike="noStrike">
              <a:latin typeface="Arial"/>
            </a:endParaRPr>
          </a:p>
          <a:p>
            <a:pPr marL="216000" indent="-216000">
              <a:lnSpc>
                <a:spcPct val="100000"/>
              </a:lnSpc>
              <a:buClr>
                <a:srgbClr val="000000"/>
              </a:buClr>
              <a:buFont typeface="StarSymbol"/>
              <a:buAutoNum type="arabicParenR"/>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a:p>
            <a:pPr>
              <a:lnSpc>
                <a:spcPct val="100000"/>
              </a:lnSpc>
            </a:pP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Shape 1"/>
          <p:cNvSpPr txBox="1"/>
          <p:nvPr/>
        </p:nvSpPr>
        <p:spPr>
          <a:xfrm>
            <a:off x="1463040" y="209160"/>
            <a:ext cx="9143640" cy="883440"/>
          </a:xfrm>
          <a:prstGeom prst="rect">
            <a:avLst/>
          </a:prstGeom>
          <a:noFill/>
          <a:ln>
            <a:noFill/>
          </a:ln>
        </p:spPr>
        <p:txBody>
          <a:bodyPr anchor="b">
            <a:normAutofit fontScale="83000"/>
          </a:bodyPr>
          <a:p>
            <a:pPr algn="ctr">
              <a:lnSpc>
                <a:spcPct val="90000"/>
              </a:lnSpc>
            </a:pPr>
            <a:r>
              <a:rPr b="1" lang="en-US" sz="2400" spc="-1" strike="noStrike">
                <a:solidFill>
                  <a:srgbClr val="000000"/>
                </a:solidFill>
                <a:latin typeface="Arial Black"/>
              </a:rPr>
              <a:t>Dhole Patil Education Society’s</a:t>
            </a:r>
            <a:br/>
            <a:r>
              <a:rPr b="1" lang="en-US" sz="3100" spc="-1" strike="noStrike">
                <a:solidFill>
                  <a:srgbClr val="000000"/>
                </a:solidFill>
                <a:latin typeface="Arial Black"/>
              </a:rPr>
              <a:t>Dhole Patil College of Engineering, Pune </a:t>
            </a:r>
            <a:endParaRPr b="0" lang="en-US" sz="3100" spc="-1" strike="noStrike">
              <a:solidFill>
                <a:srgbClr val="000000"/>
              </a:solidFill>
              <a:latin typeface="Calibri"/>
            </a:endParaRPr>
          </a:p>
        </p:txBody>
      </p:sp>
      <p:pic>
        <p:nvPicPr>
          <p:cNvPr id="158" name="Picture 3" descr=""/>
          <p:cNvPicPr/>
          <p:nvPr/>
        </p:nvPicPr>
        <p:blipFill>
          <a:blip r:embed="rId1"/>
          <a:stretch/>
        </p:blipFill>
        <p:spPr>
          <a:xfrm>
            <a:off x="191520" y="14040"/>
            <a:ext cx="1271160" cy="1078560"/>
          </a:xfrm>
          <a:prstGeom prst="rect">
            <a:avLst/>
          </a:prstGeom>
          <a:ln>
            <a:noFill/>
          </a:ln>
        </p:spPr>
      </p:pic>
      <p:pic>
        <p:nvPicPr>
          <p:cNvPr id="159" name="Picture 4" descr=""/>
          <p:cNvPicPr/>
          <p:nvPr/>
        </p:nvPicPr>
        <p:blipFill>
          <a:blip r:embed="rId2"/>
          <a:stretch/>
        </p:blipFill>
        <p:spPr>
          <a:xfrm>
            <a:off x="10710720" y="14040"/>
            <a:ext cx="1480680" cy="1109160"/>
          </a:xfrm>
          <a:prstGeom prst="rect">
            <a:avLst/>
          </a:prstGeom>
          <a:ln>
            <a:noFill/>
          </a:ln>
        </p:spPr>
      </p:pic>
      <p:sp>
        <p:nvSpPr>
          <p:cNvPr id="160" name="TextShape 2"/>
          <p:cNvSpPr txBox="1"/>
          <p:nvPr/>
        </p:nvSpPr>
        <p:spPr>
          <a:xfrm>
            <a:off x="1315080" y="2757240"/>
            <a:ext cx="9143640" cy="1655280"/>
          </a:xfrm>
          <a:prstGeom prst="rect">
            <a:avLst/>
          </a:prstGeom>
          <a:noFill/>
          <a:ln>
            <a:noFill/>
          </a:ln>
        </p:spPr>
        <p:txBody>
          <a:bodyPr>
            <a:noAutofit/>
          </a:bodyPr>
          <a:p>
            <a:pPr algn="ctr">
              <a:lnSpc>
                <a:spcPct val="90000"/>
              </a:lnSpc>
              <a:spcBef>
                <a:spcPts val="1001"/>
              </a:spcBef>
            </a:pPr>
            <a:r>
              <a:rPr b="1" lang="en-US" sz="11500" spc="-1" strike="noStrike">
                <a:solidFill>
                  <a:srgbClr val="000000"/>
                </a:solidFill>
                <a:latin typeface="Britannic Bold"/>
              </a:rPr>
              <a:t>Thank You </a:t>
            </a:r>
            <a:endParaRPr b="0" lang="en-US" sz="115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118</TotalTime>
  <Application>Neat_Office/6.2.8.2$Windows_x86 LibreOffice_project/</Application>
  <Words>1390</Words>
  <Paragraphs>158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2024-11-04T10:05:00Z</dcterms:created>
  <dc:creator>User11</dc:creator>
  <dc:description/>
  <dc:language>en-US</dc:language>
  <cp:lastModifiedBy/>
  <dcterms:modified xsi:type="dcterms:W3CDTF">2025-09-12T22:54:27Z</dcterms:modified>
  <cp:revision>26</cp:revision>
  <dc:subject/>
  <dc:title>Dhole Patil Education Society’s Dhole Patil College of Engineering, Pune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ICV">
    <vt:lpwstr>6BA557B7CFC243AAB7424EECF31B3E3A_13</vt:lpwstr>
  </property>
  <property fmtid="{D5CDD505-2E9C-101B-9397-08002B2CF9AE}" pid="6" name="KSOProductBuildVer">
    <vt:lpwstr>1033-12.2.0.20795</vt:lpwstr>
  </property>
  <property fmtid="{D5CDD505-2E9C-101B-9397-08002B2CF9AE}" pid="7" name="LinksUpToDate">
    <vt:bool>0</vt:bool>
  </property>
  <property fmtid="{D5CDD505-2E9C-101B-9397-08002B2CF9AE}" pid="8" name="MMClips">
    <vt:i4>0</vt:i4>
  </property>
  <property fmtid="{D5CDD505-2E9C-101B-9397-08002B2CF9AE}" pid="9" name="Notes">
    <vt:i4>2</vt:i4>
  </property>
  <property fmtid="{D5CDD505-2E9C-101B-9397-08002B2CF9AE}" pid="10" name="PresentationFormat">
    <vt:lpwstr>Widescreen</vt:lpwstr>
  </property>
  <property fmtid="{D5CDD505-2E9C-101B-9397-08002B2CF9AE}" pid="11" name="ScaleCrop">
    <vt:bool>0</vt:bool>
  </property>
  <property fmtid="{D5CDD505-2E9C-101B-9397-08002B2CF9AE}" pid="12" name="ShareDoc">
    <vt:bool>0</vt:bool>
  </property>
  <property fmtid="{D5CDD505-2E9C-101B-9397-08002B2CF9AE}" pid="13" name="Slides">
    <vt:i4>19</vt:i4>
  </property>
</Properties>
</file>