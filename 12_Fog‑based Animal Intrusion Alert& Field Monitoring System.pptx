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2"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r>
              <a:rPr lang="en-US" sz="1800" b="0" strike="noStrike" spc="-1">
                <a:solidFill>
                  <a:srgbClr val="000000"/>
                </a:solidFill>
                <a:latin typeface="Calibri"/>
              </a:rPr>
              <a:t>Click to move the slide</a:t>
            </a:r>
          </a:p>
        </p:txBody>
      </p:sp>
      <p:sp>
        <p:nvSpPr>
          <p:cNvPr id="83"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84"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&lt;header&gt;</a:t>
            </a:r>
          </a:p>
        </p:txBody>
      </p:sp>
      <p:sp>
        <p:nvSpPr>
          <p:cNvPr id="85"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&lt;date/time&gt;</a:t>
            </a:r>
          </a:p>
        </p:txBody>
      </p:sp>
      <p:sp>
        <p:nvSpPr>
          <p:cNvPr id="86"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&lt;footer&gt;</a:t>
            </a:r>
          </a:p>
        </p:txBody>
      </p:sp>
      <p:sp>
        <p:nvSpPr>
          <p:cNvPr id="87"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61D2FFE7-CAD1-4157-AE7C-9D6473CA4284}"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PlaceHolder 1"/>
          <p:cNvSpPr>
            <a:spLocks noGrp="1" noRot="1" noChangeAspect="1"/>
          </p:cNvSpPr>
          <p:nvPr>
            <p:ph type="sldImg"/>
          </p:nvPr>
        </p:nvSpPr>
        <p:spPr>
          <a:xfrm>
            <a:off x="685800" y="1143000"/>
            <a:ext cx="5486400" cy="3086100"/>
          </a:xfrm>
          <a:prstGeom prst="rect">
            <a:avLst/>
          </a:prstGeom>
        </p:spPr>
      </p:sp>
      <p:sp>
        <p:nvSpPr>
          <p:cNvPr id="162"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63"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32A87B19-07FC-41A6-828F-DB8726FE4125}" type="slidenum">
              <a:rPr lang="en-US" sz="1200" b="0" strike="noStrike" spc="-1">
                <a:solidFill>
                  <a:srgbClr val="000000"/>
                </a:solidFill>
                <a:latin typeface="+mn-lt"/>
                <a:ea typeface="+mn-ea"/>
              </a:rPr>
              <a:t>7</a:t>
            </a:fld>
            <a:endParaRPr lang="en-US" sz="1200" b="0" strike="noStrike" spc="-1">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PlaceHolder 1"/>
          <p:cNvSpPr>
            <a:spLocks noGrp="1" noRot="1" noChangeAspect="1"/>
          </p:cNvSpPr>
          <p:nvPr>
            <p:ph type="sldImg"/>
          </p:nvPr>
        </p:nvSpPr>
        <p:spPr>
          <a:xfrm>
            <a:off x="685800" y="1143000"/>
            <a:ext cx="5486400" cy="3086100"/>
          </a:xfrm>
          <a:prstGeom prst="rect">
            <a:avLst/>
          </a:prstGeom>
        </p:spPr>
      </p:sp>
      <p:sp>
        <p:nvSpPr>
          <p:cNvPr id="165"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66"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EA914B19-20CE-49DA-A5A3-0D375F34F9E6}" type="slidenum">
              <a:rPr lang="en-US" sz="1200" b="0" strike="noStrike" spc="-1">
                <a:solidFill>
                  <a:srgbClr val="000000"/>
                </a:solidFill>
                <a:latin typeface="+mn-lt"/>
                <a:ea typeface="+mn-ea"/>
              </a:rPr>
              <a:t>8</a:t>
            </a:fld>
            <a:endParaRPr lang="en-US" sz="1200" b="0" strike="noStrike" spc="-1">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PlaceHolder 1"/>
          <p:cNvSpPr>
            <a:spLocks noGrp="1" noRot="1" noChangeAspect="1"/>
          </p:cNvSpPr>
          <p:nvPr>
            <p:ph type="sldImg"/>
          </p:nvPr>
        </p:nvSpPr>
        <p:spPr>
          <a:xfrm>
            <a:off x="685800" y="1143000"/>
            <a:ext cx="5486400" cy="3086100"/>
          </a:xfrm>
          <a:prstGeom prst="rect">
            <a:avLst/>
          </a:prstGeom>
        </p:spPr>
      </p:sp>
      <p:sp>
        <p:nvSpPr>
          <p:cNvPr id="168"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69"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B757CF3C-C2D6-488E-944B-0557A96B2C7A}" type="slidenum">
              <a:rPr lang="en-US" sz="1200" b="0" strike="noStrike" spc="-1">
                <a:solidFill>
                  <a:srgbClr val="000000"/>
                </a:solidFill>
                <a:latin typeface="+mn-lt"/>
                <a:ea typeface="+mn-ea"/>
              </a:rPr>
              <a:t>9</a:t>
            </a:fld>
            <a:endParaRPr lang="en-US" sz="1200" b="0" strike="noStrike" spc="-1">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noRot="1" noChangeAspect="1"/>
          </p:cNvSpPr>
          <p:nvPr>
            <p:ph type="sldImg"/>
          </p:nvPr>
        </p:nvSpPr>
        <p:spPr>
          <a:xfrm>
            <a:off x="685800" y="1143000"/>
            <a:ext cx="5486400" cy="3086100"/>
          </a:xfrm>
          <a:prstGeom prst="rect">
            <a:avLst/>
          </a:prstGeom>
        </p:spPr>
      </p:sp>
      <p:sp>
        <p:nvSpPr>
          <p:cNvPr id="171"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72"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B7ADBD5F-6D4B-40AD-B61C-37084C2D8F70}" type="slidenum">
              <a:rPr lang="en-US" sz="1200" b="0" strike="noStrike" spc="-1">
                <a:latin typeface="Times New Roman"/>
              </a:rPr>
              <a:t>14</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1523880" y="1122480"/>
            <a:ext cx="9143640" cy="110667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47"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49"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5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1523880" y="1122480"/>
            <a:ext cx="9143640" cy="1106676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5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7"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8"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2"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4"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68"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9"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7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1523880" y="1122480"/>
            <a:ext cx="9143640" cy="2387160"/>
          </a:xfrm>
          <a:prstGeom prst="rect">
            <a:avLst/>
          </a:prstGeom>
        </p:spPr>
        <p:txBody>
          <a:bodyPr lIns="0" tIns="0" rIns="0" bIns="0" anchor="ctr">
            <a:spAutoFit/>
          </a:bodyPr>
          <a:lstStyle/>
          <a:p>
            <a:endParaRPr lang="en-US" sz="1800" b="0" strike="noStrike" spc="-1">
              <a:solidFill>
                <a:srgbClr val="000000"/>
              </a:solidFill>
              <a:latin typeface="Calibri"/>
            </a:endParaRPr>
          </a:p>
        </p:txBody>
      </p:sp>
      <p:sp>
        <p:nvSpPr>
          <p:cNvPr id="76"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7"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8"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9"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0"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1"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p:spPr>
        <p:txBody>
          <a:bodyPr anchor="b">
            <a:noAutofit/>
          </a:bodyPr>
          <a:lstStyle/>
          <a:p>
            <a:pPr algn="ctr">
              <a:lnSpc>
                <a:spcPct val="90000"/>
              </a:lnSpc>
            </a:pPr>
            <a:r>
              <a:rPr lang="en-US" sz="6000" b="0" strike="noStrike" spc="-1">
                <a:solidFill>
                  <a:srgbClr val="000000"/>
                </a:solidFill>
                <a:latin typeface="Calibri Light"/>
              </a:rPr>
              <a:t>Click to edit Master title style</a:t>
            </a:r>
            <a:endParaRPr lang="en-US" sz="6000" b="0" strike="noStrike" spc="-1">
              <a:solidFill>
                <a:srgbClr val="000000"/>
              </a:solidFill>
              <a:latin typeface="Calibri"/>
            </a:endParaRPr>
          </a:p>
        </p:txBody>
      </p:sp>
      <p:sp>
        <p:nvSpPr>
          <p:cNvPr id="6" name="PlaceHolder 2"/>
          <p:cNvSpPr>
            <a:spLocks noGrp="1"/>
          </p:cNvSpPr>
          <p:nvPr>
            <p:ph type="dt"/>
          </p:nvPr>
        </p:nvSpPr>
        <p:spPr>
          <a:xfrm>
            <a:off x="838080" y="6356520"/>
            <a:ext cx="2742840" cy="364680"/>
          </a:xfrm>
          <a:prstGeom prst="rect">
            <a:avLst/>
          </a:prstGeom>
        </p:spPr>
        <p:txBody>
          <a:bodyPr anchor="ctr">
            <a:noAutofit/>
          </a:bodyPr>
          <a:lstStyle/>
          <a:p>
            <a:pPr>
              <a:lnSpc>
                <a:spcPct val="100000"/>
              </a:lnSpc>
            </a:pPr>
            <a:fld id="{95274A63-FA99-4F57-8274-4E0D44F783F6}" type="datetime">
              <a:rPr lang="en-US" sz="1200" b="0" strike="noStrike" spc="-1">
                <a:solidFill>
                  <a:srgbClr val="8B8B8B"/>
                </a:solidFill>
                <a:latin typeface="Calibri"/>
              </a:rPr>
              <a:t>9/12/2025</a:t>
            </a:fld>
            <a:endParaRPr lang="en-US" sz="1200" b="0" strike="noStrike" spc="-1">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55449E39-0E82-4075-AF16-427B8690389F}" type="slidenum">
              <a:rPr lang="en-US" sz="1200" b="0" strike="noStrike" spc="-1">
                <a:solidFill>
                  <a:srgbClr val="8B8B8B"/>
                </a:solidFill>
                <a:latin typeface="Calibri"/>
              </a:rPr>
              <a:t>‹#›</a:t>
            </a:fld>
            <a:endParaRPr lang="en-US" sz="1200" b="0" strike="noStrike" spc="-1">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43" name="PlaceHolder 3"/>
          <p:cNvSpPr>
            <a:spLocks noGrp="1"/>
          </p:cNvSpPr>
          <p:nvPr>
            <p:ph type="dt"/>
          </p:nvPr>
        </p:nvSpPr>
        <p:spPr>
          <a:xfrm>
            <a:off x="838080" y="6356520"/>
            <a:ext cx="2742840" cy="364680"/>
          </a:xfrm>
          <a:prstGeom prst="rect">
            <a:avLst/>
          </a:prstGeom>
        </p:spPr>
        <p:txBody>
          <a:bodyPr anchor="ctr">
            <a:noAutofit/>
          </a:bodyPr>
          <a:lstStyle/>
          <a:p>
            <a:pPr>
              <a:lnSpc>
                <a:spcPct val="100000"/>
              </a:lnSpc>
            </a:pPr>
            <a:fld id="{60026453-B6C3-4756-9BC0-EE7FB4F2D540}" type="datetime">
              <a:rPr lang="en-US" sz="1200" b="0" strike="noStrike" spc="-1">
                <a:solidFill>
                  <a:srgbClr val="8B8B8B"/>
                </a:solidFill>
                <a:latin typeface="Calibri"/>
              </a:rPr>
              <a:t>9/12/2025</a:t>
            </a:fld>
            <a:endParaRPr lang="en-US" sz="1200" b="0" strike="noStrike" spc="-1">
              <a:latin typeface="Times New Roman"/>
            </a:endParaRPr>
          </a:p>
        </p:txBody>
      </p:sp>
      <p:sp>
        <p:nvSpPr>
          <p:cNvPr id="44"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45"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85576918-94BA-45BF-A7D6-5882F5B4743E}"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raspberrypi.com/"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hyperlink" Target="https://www.tensorflow.org/lite" TargetMode="External"/><Relationship Id="rId5" Type="http://schemas.openxmlformats.org/officeDocument/2006/relationships/hyperlink" Target="https://agmarknet.gov.in/" TargetMode="Externa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Shape 2"/>
          <p:cNvSpPr txBox="1"/>
          <p:nvPr/>
        </p:nvSpPr>
        <p:spPr>
          <a:xfrm>
            <a:off x="1249860" y="1505160"/>
            <a:ext cx="9692280" cy="4841640"/>
          </a:xfrm>
          <a:prstGeom prst="rect">
            <a:avLst/>
          </a:prstGeom>
          <a:noFill/>
          <a:ln>
            <a:noFill/>
          </a:ln>
        </p:spPr>
        <p:txBody>
          <a:bodyPr>
            <a:normAutofit fontScale="92500" lnSpcReduction="10000"/>
          </a:bodyPr>
          <a:lstStyle/>
          <a:p>
            <a:pPr algn="ctr">
              <a:lnSpc>
                <a:spcPct val="90000"/>
              </a:lnSpc>
              <a:spcBef>
                <a:spcPts val="1001"/>
              </a:spcBef>
            </a:pPr>
            <a:r>
              <a:rPr lang="en-US" sz="2600" b="1" u="sng" strike="noStrike" spc="-1" dirty="0">
                <a:solidFill>
                  <a:srgbClr val="000000"/>
                </a:solidFill>
                <a:latin typeface="Arial Black"/>
              </a:rPr>
              <a:t>Major Project Presentation</a:t>
            </a:r>
            <a:endParaRPr lang="en-US" sz="2600" b="0" u="sng" strike="noStrike" spc="-1" dirty="0">
              <a:latin typeface="Arial"/>
            </a:endParaRPr>
          </a:p>
          <a:p>
            <a:pPr algn="ctr">
              <a:lnSpc>
                <a:spcPct val="90000"/>
              </a:lnSpc>
              <a:spcBef>
                <a:spcPts val="1001"/>
              </a:spcBef>
            </a:pPr>
            <a:endParaRPr lang="en-US" sz="2600" b="0" strike="noStrike" spc="-1" dirty="0">
              <a:latin typeface="Arial"/>
            </a:endParaRPr>
          </a:p>
          <a:p>
            <a:pPr>
              <a:lnSpc>
                <a:spcPct val="90000"/>
              </a:lnSpc>
              <a:spcBef>
                <a:spcPts val="1001"/>
              </a:spcBef>
            </a:pPr>
            <a:r>
              <a:rPr lang="en-US" sz="2600" b="0" u="sng" strike="noStrike" spc="-1" dirty="0">
                <a:solidFill>
                  <a:srgbClr val="000000"/>
                </a:solidFill>
                <a:latin typeface="Arial Black"/>
                <a:ea typeface="Microsoft YaHei"/>
              </a:rPr>
              <a:t>Project Title</a:t>
            </a:r>
            <a:r>
              <a:rPr lang="en-US" sz="2600" b="0" strike="noStrike" spc="-1" dirty="0">
                <a:solidFill>
                  <a:srgbClr val="000000"/>
                </a:solidFill>
                <a:latin typeface="Arial Black"/>
                <a:ea typeface="Microsoft YaHei"/>
              </a:rPr>
              <a:t>: </a:t>
            </a:r>
            <a:r>
              <a:rPr lang="en-US" sz="2200" b="1" strike="noStrike" spc="-1" dirty="0">
                <a:solidFill>
                  <a:srgbClr val="000000"/>
                </a:solidFill>
                <a:latin typeface="Calibri"/>
                <a:ea typeface="DejaVu Sans"/>
              </a:rPr>
              <a:t>Krishi Suraksha- Fog‑based Animal Intrusion Alert &amp; Field Monitoring</a:t>
            </a:r>
            <a:endParaRPr lang="en-US" sz="2200" b="0" strike="noStrike" spc="-1" dirty="0">
              <a:latin typeface="Arial"/>
            </a:endParaRPr>
          </a:p>
          <a:p>
            <a:pPr algn="ctr">
              <a:lnSpc>
                <a:spcPct val="90000"/>
              </a:lnSpc>
              <a:spcBef>
                <a:spcPts val="1001"/>
              </a:spcBef>
            </a:pPr>
            <a:endParaRPr lang="en-US" sz="2400" b="0" strike="noStrike" spc="-1" dirty="0">
              <a:latin typeface="Arial"/>
            </a:endParaRPr>
          </a:p>
          <a:p>
            <a:pPr algn="ctr">
              <a:lnSpc>
                <a:spcPct val="90000"/>
              </a:lnSpc>
              <a:spcBef>
                <a:spcPts val="1001"/>
              </a:spcBef>
            </a:pPr>
            <a:r>
              <a:rPr lang="en-US" sz="2600" b="1" u="sng" strike="noStrike" spc="-1" dirty="0">
                <a:solidFill>
                  <a:srgbClr val="000000"/>
                </a:solidFill>
                <a:latin typeface="Arial Black"/>
              </a:rPr>
              <a:t>Under the Guidance of</a:t>
            </a:r>
            <a:r>
              <a:rPr lang="en-US" sz="2600" b="1" strike="noStrike" spc="-1" dirty="0">
                <a:solidFill>
                  <a:srgbClr val="000000"/>
                </a:solidFill>
                <a:latin typeface="Arial Black"/>
              </a:rPr>
              <a:t>: </a:t>
            </a:r>
            <a:r>
              <a:rPr lang="en-US" sz="2600" b="1" strike="noStrike" spc="-1" dirty="0">
                <a:solidFill>
                  <a:srgbClr val="000000"/>
                </a:solidFill>
                <a:latin typeface="Calibri"/>
              </a:rPr>
              <a:t>  </a:t>
            </a:r>
            <a:r>
              <a:rPr lang="en-US" sz="2300" b="1" strike="noStrike" spc="-1" dirty="0">
                <a:solidFill>
                  <a:srgbClr val="000000"/>
                </a:solidFill>
                <a:latin typeface="Calibri"/>
              </a:rPr>
              <a:t>Prof. Dhananjay </a:t>
            </a:r>
            <a:r>
              <a:rPr lang="en-US" sz="2300" b="1" strike="noStrike" spc="-1" dirty="0" err="1">
                <a:solidFill>
                  <a:srgbClr val="000000"/>
                </a:solidFill>
                <a:latin typeface="Calibri"/>
              </a:rPr>
              <a:t>Poul</a:t>
            </a:r>
            <a:r>
              <a:rPr lang="en-US" sz="2300" b="1" strike="noStrike" spc="-1" dirty="0">
                <a:solidFill>
                  <a:srgbClr val="000000"/>
                </a:solidFill>
                <a:latin typeface="Calibri"/>
              </a:rPr>
              <a:t>     </a:t>
            </a:r>
          </a:p>
          <a:p>
            <a:pPr algn="ctr">
              <a:lnSpc>
                <a:spcPct val="90000"/>
              </a:lnSpc>
              <a:spcBef>
                <a:spcPts val="1001"/>
              </a:spcBef>
            </a:pPr>
            <a:endParaRPr lang="en-US" sz="2400" b="0" strike="noStrike" spc="-1" dirty="0">
              <a:latin typeface="Arial"/>
            </a:endParaRPr>
          </a:p>
          <a:p>
            <a:pPr algn="ctr">
              <a:lnSpc>
                <a:spcPct val="90000"/>
              </a:lnSpc>
              <a:spcBef>
                <a:spcPts val="1001"/>
              </a:spcBef>
            </a:pPr>
            <a:r>
              <a:rPr lang="en-US" sz="2600" b="1" u="sng" strike="noStrike" spc="-1" dirty="0">
                <a:solidFill>
                  <a:srgbClr val="000000"/>
                </a:solidFill>
                <a:latin typeface="Arial Black"/>
              </a:rPr>
              <a:t>Presentation by</a:t>
            </a:r>
            <a:r>
              <a:rPr lang="en-US" sz="2400" b="1" strike="noStrike" spc="-1" dirty="0">
                <a:solidFill>
                  <a:srgbClr val="000000"/>
                </a:solidFill>
                <a:latin typeface="Arial Black"/>
              </a:rPr>
              <a:t>:  </a:t>
            </a:r>
            <a:r>
              <a:rPr lang="en-US" sz="2300" b="1" strike="noStrike" spc="-1" dirty="0">
                <a:solidFill>
                  <a:srgbClr val="000000"/>
                </a:solidFill>
                <a:latin typeface="Times New Roman"/>
              </a:rPr>
              <a:t>1] Mayur Ichake </a:t>
            </a:r>
            <a:endParaRPr lang="en-US" sz="2300" b="0" strike="noStrike" spc="-1" dirty="0">
              <a:latin typeface="Arial"/>
            </a:endParaRPr>
          </a:p>
          <a:p>
            <a:pPr algn="ctr">
              <a:lnSpc>
                <a:spcPct val="90000"/>
              </a:lnSpc>
              <a:spcBef>
                <a:spcPts val="1001"/>
              </a:spcBef>
            </a:pPr>
            <a:r>
              <a:rPr lang="en-US" sz="2300" b="1" strike="noStrike" spc="-1" dirty="0">
                <a:solidFill>
                  <a:srgbClr val="000000"/>
                </a:solidFill>
                <a:latin typeface="Times New Roman"/>
              </a:rPr>
              <a:t>                                         2] Sahil Ichake </a:t>
            </a:r>
            <a:endParaRPr lang="en-US" sz="2300" b="0" strike="noStrike" spc="-1" dirty="0">
              <a:latin typeface="Arial"/>
            </a:endParaRPr>
          </a:p>
          <a:p>
            <a:pPr algn="ctr">
              <a:lnSpc>
                <a:spcPct val="90000"/>
              </a:lnSpc>
              <a:spcBef>
                <a:spcPts val="1001"/>
              </a:spcBef>
            </a:pPr>
            <a:r>
              <a:rPr lang="en-US" sz="2300" b="1" strike="noStrike" spc="-1" dirty="0">
                <a:solidFill>
                  <a:srgbClr val="000000"/>
                </a:solidFill>
                <a:latin typeface="Times New Roman"/>
              </a:rPr>
              <a:t>                                         3] Harsh Wala</a:t>
            </a:r>
            <a:endParaRPr lang="en-US" sz="2300" b="0" strike="noStrike" spc="-1" dirty="0">
              <a:latin typeface="Arial"/>
            </a:endParaRPr>
          </a:p>
          <a:p>
            <a:pPr algn="ctr">
              <a:lnSpc>
                <a:spcPct val="90000"/>
              </a:lnSpc>
              <a:spcBef>
                <a:spcPts val="1001"/>
              </a:spcBef>
            </a:pPr>
            <a:endParaRPr lang="en-US" sz="2400" b="0" strike="noStrike" spc="-1" dirty="0">
              <a:latin typeface="Arial"/>
            </a:endParaRPr>
          </a:p>
          <a:p>
            <a:pPr algn="ctr">
              <a:lnSpc>
                <a:spcPct val="90000"/>
              </a:lnSpc>
              <a:spcBef>
                <a:spcPts val="1001"/>
              </a:spcBef>
            </a:pPr>
            <a:endParaRPr lang="en-US" sz="2400" b="0" strike="noStrike" spc="-1" dirty="0">
              <a:latin typeface="Arial"/>
            </a:endParaRPr>
          </a:p>
          <a:p>
            <a:pPr algn="ctr">
              <a:lnSpc>
                <a:spcPct val="90000"/>
              </a:lnSpc>
              <a:spcBef>
                <a:spcPts val="1001"/>
              </a:spcBef>
            </a:pPr>
            <a:r>
              <a:rPr lang="en-US" sz="1700" b="1" strike="noStrike" spc="-1" dirty="0">
                <a:solidFill>
                  <a:srgbClr val="000000"/>
                </a:solidFill>
                <a:latin typeface="Arial Black"/>
              </a:rPr>
              <a:t>A.Y. 2025-26</a:t>
            </a:r>
            <a:endParaRPr lang="en-US" sz="1700" b="0" strike="noStrike" spc="-1" dirty="0">
              <a:latin typeface="Arial"/>
            </a:endParaRPr>
          </a:p>
        </p:txBody>
      </p:sp>
      <p:pic>
        <p:nvPicPr>
          <p:cNvPr id="90" name="Picture 3"/>
          <p:cNvPicPr/>
          <p:nvPr/>
        </p:nvPicPr>
        <p:blipFill>
          <a:blip r:embed="rId2"/>
          <a:stretch/>
        </p:blipFill>
        <p:spPr>
          <a:xfrm>
            <a:off x="191520" y="44640"/>
            <a:ext cx="1271160" cy="1078560"/>
          </a:xfrm>
          <a:prstGeom prst="rect">
            <a:avLst/>
          </a:prstGeom>
          <a:ln>
            <a:noFill/>
          </a:ln>
        </p:spPr>
      </p:pic>
      <p:pic>
        <p:nvPicPr>
          <p:cNvPr id="91" name="Picture 4"/>
          <p:cNvPicPr/>
          <p:nvPr/>
        </p:nvPicPr>
        <p:blipFill>
          <a:blip r:embed="rId3"/>
          <a:stretch/>
        </p:blipFill>
        <p:spPr>
          <a:xfrm>
            <a:off x="10710720" y="14040"/>
            <a:ext cx="1480680" cy="1109160"/>
          </a:xfrm>
          <a:prstGeom prst="rect">
            <a:avLst/>
          </a:prstGeom>
          <a:ln>
            <a:noFill/>
          </a:ln>
        </p:spPr>
      </p:pic>
      <p:sp>
        <p:nvSpPr>
          <p:cNvPr id="6" name="TextShape 1">
            <a:extLst>
              <a:ext uri="{FF2B5EF4-FFF2-40B4-BE49-F238E27FC236}">
                <a16:creationId xmlns:a16="http://schemas.microsoft.com/office/drawing/2014/main" id="{FCF91F0C-DFE8-4475-AD62-73E25E43ECDC}"/>
              </a:ext>
            </a:extLst>
          </p:cNvPr>
          <p:cNvSpPr txBox="1"/>
          <p:nvPr/>
        </p:nvSpPr>
        <p:spPr>
          <a:xfrm>
            <a:off x="1153550" y="4464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TextShape 2"/>
          <p:cNvSpPr txBox="1"/>
          <p:nvPr/>
        </p:nvSpPr>
        <p:spPr>
          <a:xfrm>
            <a:off x="1531799" y="1505160"/>
            <a:ext cx="9692280" cy="4841640"/>
          </a:xfrm>
          <a:prstGeom prst="rect">
            <a:avLst/>
          </a:prstGeom>
          <a:noFill/>
          <a:ln>
            <a:noFill/>
          </a:ln>
        </p:spPr>
        <p:txBody>
          <a:bodyPr>
            <a:normAutofit/>
          </a:bodyPr>
          <a:lstStyle/>
          <a:p>
            <a:pPr algn="ctr">
              <a:lnSpc>
                <a:spcPct val="90000"/>
              </a:lnSpc>
              <a:spcBef>
                <a:spcPts val="1001"/>
              </a:spcBef>
            </a:pPr>
            <a:r>
              <a:rPr lang="en-US" sz="2400" b="1" u="sng" strike="noStrike" spc="-1" dirty="0">
                <a:solidFill>
                  <a:srgbClr val="000000"/>
                </a:solidFill>
                <a:latin typeface="Calibri"/>
              </a:rPr>
              <a:t>Presentation Flow</a:t>
            </a:r>
            <a:endParaRPr lang="en-US" sz="2400" b="0" u="sng"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Introduction,  Project Objective, Goal</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ea typeface="DejaVu Sans"/>
              </a:rPr>
              <a:t>Problem Statement</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Literature Survey</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Block Diagram </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Specification</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Software used</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Implementation Details</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Advantages &amp; Applications</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 Future Scope </a:t>
            </a:r>
            <a:endParaRPr lang="en-US" sz="1800" b="0" strike="noStrike" spc="-1" dirty="0">
              <a:latin typeface="Arial"/>
            </a:endParaRPr>
          </a:p>
          <a:p>
            <a:pPr marL="457200" indent="-456840">
              <a:lnSpc>
                <a:spcPct val="110000"/>
              </a:lnSpc>
              <a:spcBef>
                <a:spcPts val="1001"/>
              </a:spcBef>
              <a:buClr>
                <a:srgbClr val="000000"/>
              </a:buClr>
              <a:buFont typeface="Arial"/>
              <a:buChar char="•"/>
            </a:pPr>
            <a:r>
              <a:rPr lang="en-US" sz="1800" b="0" strike="noStrike" spc="-1" dirty="0">
                <a:solidFill>
                  <a:srgbClr val="000000"/>
                </a:solidFill>
                <a:latin typeface="Times New Roman"/>
              </a:rPr>
              <a:t>References</a:t>
            </a:r>
            <a:endParaRPr lang="en-US" sz="1800" b="0" strike="noStrike" spc="-1" dirty="0">
              <a:latin typeface="Arial"/>
            </a:endParaRPr>
          </a:p>
          <a:p>
            <a:pPr algn="ctr">
              <a:lnSpc>
                <a:spcPct val="90000"/>
              </a:lnSpc>
              <a:spcBef>
                <a:spcPts val="1001"/>
              </a:spcBef>
            </a:pPr>
            <a:endParaRPr lang="en-US" sz="1800" b="0" strike="noStrike" spc="-1" dirty="0">
              <a:latin typeface="Arial"/>
            </a:endParaRPr>
          </a:p>
        </p:txBody>
      </p:sp>
      <p:pic>
        <p:nvPicPr>
          <p:cNvPr id="94" name="Picture 3"/>
          <p:cNvPicPr/>
          <p:nvPr/>
        </p:nvPicPr>
        <p:blipFill>
          <a:blip r:embed="rId2"/>
          <a:stretch/>
        </p:blipFill>
        <p:spPr>
          <a:xfrm>
            <a:off x="191520" y="44640"/>
            <a:ext cx="1271160" cy="1078560"/>
          </a:xfrm>
          <a:prstGeom prst="rect">
            <a:avLst/>
          </a:prstGeom>
          <a:ln>
            <a:noFill/>
          </a:ln>
        </p:spPr>
      </p:pic>
      <p:pic>
        <p:nvPicPr>
          <p:cNvPr id="95" name="Picture 4"/>
          <p:cNvPicPr/>
          <p:nvPr/>
        </p:nvPicPr>
        <p:blipFill>
          <a:blip r:embed="rId3"/>
          <a:stretch/>
        </p:blipFill>
        <p:spPr>
          <a:xfrm>
            <a:off x="10710720" y="14040"/>
            <a:ext cx="1480680" cy="1109160"/>
          </a:xfrm>
          <a:prstGeom prst="rect">
            <a:avLst/>
          </a:prstGeom>
          <a:ln>
            <a:noFill/>
          </a:ln>
        </p:spPr>
      </p:pic>
      <p:sp>
        <p:nvSpPr>
          <p:cNvPr id="6" name="TextShape 1">
            <a:extLst>
              <a:ext uri="{FF2B5EF4-FFF2-40B4-BE49-F238E27FC236}">
                <a16:creationId xmlns:a16="http://schemas.microsoft.com/office/drawing/2014/main" id="{431FE805-9162-4E9F-9E8F-471AF1892E35}"/>
              </a:ext>
            </a:extLst>
          </p:cNvPr>
          <p:cNvSpPr txBox="1"/>
          <p:nvPr/>
        </p:nvSpPr>
        <p:spPr>
          <a:xfrm>
            <a:off x="1153550" y="4464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extShape 2"/>
          <p:cNvSpPr txBox="1"/>
          <p:nvPr/>
        </p:nvSpPr>
        <p:spPr>
          <a:xfrm>
            <a:off x="1097280" y="1804680"/>
            <a:ext cx="9945000" cy="4964760"/>
          </a:xfrm>
          <a:prstGeom prst="rect">
            <a:avLst/>
          </a:prstGeom>
          <a:noFill/>
          <a:ln>
            <a:noFill/>
          </a:ln>
        </p:spPr>
        <p:txBody>
          <a:bodyPr>
            <a:normAutofit fontScale="76000" lnSpcReduction="20000"/>
          </a:bodyPr>
          <a:lstStyle/>
          <a:p>
            <a:pPr marL="457200" indent="-456840" algn="just">
              <a:lnSpc>
                <a:spcPct val="120000"/>
              </a:lnSpc>
              <a:spcBef>
                <a:spcPts val="717"/>
              </a:spcBef>
              <a:buClr>
                <a:srgbClr val="000000"/>
              </a:buClr>
              <a:buFont typeface="Arial"/>
              <a:buChar char="•"/>
            </a:pPr>
            <a:r>
              <a:rPr lang="en-US" sz="3200" b="1" strike="noStrike" spc="-1" dirty="0">
                <a:solidFill>
                  <a:srgbClr val="000000"/>
                </a:solidFill>
                <a:latin typeface="Times New Roman"/>
              </a:rPr>
              <a:t>Project Objective: </a:t>
            </a:r>
            <a:r>
              <a:rPr lang="en-US" sz="3200" b="0" strike="noStrike" spc="-1" dirty="0">
                <a:solidFill>
                  <a:srgbClr val="000000"/>
                </a:solidFill>
                <a:latin typeface="Times New Roman"/>
              </a:rPr>
              <a:t>This project focuses on the design and development of a fog-based animal intrusion alert and field monitoring system aimed at protecting crops, reducing farmer losses, and ensuring efficient farm surveillance.</a:t>
            </a:r>
            <a:endParaRPr lang="en-US" sz="3200" b="0" strike="noStrike" spc="-1" dirty="0">
              <a:latin typeface="Arial"/>
              <a:ea typeface="Microsoft YaHei"/>
            </a:endParaRPr>
          </a:p>
          <a:p>
            <a:pPr marL="457200" indent="-456840" algn="just">
              <a:lnSpc>
                <a:spcPct val="120000"/>
              </a:lnSpc>
              <a:spcBef>
                <a:spcPts val="717"/>
              </a:spcBef>
              <a:buClr>
                <a:srgbClr val="000000"/>
              </a:buClr>
              <a:buFont typeface="Arial"/>
              <a:buChar char="•"/>
            </a:pPr>
            <a:r>
              <a:rPr lang="en-US" sz="3200" b="1" strike="noStrike" spc="-1" dirty="0">
                <a:latin typeface="Arial"/>
                <a:ea typeface="Microsoft YaHei"/>
              </a:rPr>
              <a:t>Technology Used: </a:t>
            </a:r>
            <a:r>
              <a:rPr lang="en-US" sz="2800" b="0" strike="noStrike" spc="-1" dirty="0">
                <a:latin typeface="Arial"/>
                <a:ea typeface="Microsoft YaHei"/>
              </a:rPr>
              <a:t>The system uses Raspberry Pi, PIR and ultrasonic sensors, Pi </a:t>
            </a:r>
            <a:r>
              <a:rPr lang="en-US" sz="2600" b="0" strike="noStrike" spc="-1" dirty="0">
                <a:latin typeface="Arial"/>
                <a:ea typeface="Microsoft YaHei"/>
              </a:rPr>
              <a:t>Camera, TensorFlow Lite, GSM/LoRa</a:t>
            </a:r>
            <a:r>
              <a:rPr lang="en-US" sz="2800" b="0" strike="noStrike" spc="-1" dirty="0">
                <a:latin typeface="Arial"/>
                <a:ea typeface="Microsoft YaHei"/>
              </a:rPr>
              <a:t> modules, and solar power for reliable operation in remote areas.</a:t>
            </a:r>
          </a:p>
          <a:p>
            <a:pPr marL="457200" indent="-456840" algn="just">
              <a:lnSpc>
                <a:spcPct val="120000"/>
              </a:lnSpc>
              <a:spcBef>
                <a:spcPts val="717"/>
              </a:spcBef>
              <a:buClr>
                <a:srgbClr val="000000"/>
              </a:buClr>
              <a:buFont typeface="Arial"/>
              <a:buChar char="•"/>
            </a:pPr>
            <a:r>
              <a:rPr lang="en-US" sz="3200" b="1" strike="noStrike" spc="-1" dirty="0">
                <a:latin typeface="Arial"/>
                <a:ea typeface="Microsoft YaHei"/>
              </a:rPr>
              <a:t>Key Features: </a:t>
            </a:r>
            <a:r>
              <a:rPr lang="en-US" sz="2800" b="0" strike="noStrike" spc="-1" dirty="0">
                <a:latin typeface="Arial"/>
                <a:ea typeface="Microsoft YaHei"/>
              </a:rPr>
              <a:t>Automatically detect animal intrusion in farm fields. Classify animals using AI (TensorFlow Lite)..</a:t>
            </a:r>
          </a:p>
          <a:p>
            <a:pPr marL="457200" indent="-456840" algn="just">
              <a:lnSpc>
                <a:spcPct val="120000"/>
              </a:lnSpc>
              <a:spcBef>
                <a:spcPts val="717"/>
              </a:spcBef>
              <a:buClr>
                <a:srgbClr val="000000"/>
              </a:buClr>
              <a:buFont typeface="Arial"/>
              <a:buChar char="•"/>
            </a:pPr>
            <a:r>
              <a:rPr lang="en-US" sz="3200" b="1" strike="noStrike" spc="-1" dirty="0">
                <a:latin typeface="Arial"/>
                <a:ea typeface="Microsoft YaHei"/>
              </a:rPr>
              <a:t>Goal: </a:t>
            </a:r>
            <a:r>
              <a:rPr lang="en-US" sz="2800" b="0" strike="noStrike" spc="-1" dirty="0">
                <a:latin typeface="Arial"/>
                <a:ea typeface="Microsoft YaHei"/>
              </a:rPr>
              <a:t>Develop a cost-effective, energy-efficient, and scalable smart agriculture solution that minimizes crop damage and provides real-time protection and monitoring for farmers.</a:t>
            </a:r>
          </a:p>
          <a:p>
            <a:pPr>
              <a:lnSpc>
                <a:spcPct val="90000"/>
              </a:lnSpc>
              <a:spcBef>
                <a:spcPts val="717"/>
              </a:spcBef>
            </a:pPr>
            <a:endParaRPr lang="en-US" sz="2800" b="0" strike="noStrike" spc="-1" dirty="0">
              <a:latin typeface="Arial"/>
              <a:ea typeface="Microsoft YaHei"/>
            </a:endParaRPr>
          </a:p>
          <a:p>
            <a:pPr>
              <a:lnSpc>
                <a:spcPct val="90000"/>
              </a:lnSpc>
              <a:spcBef>
                <a:spcPts val="717"/>
              </a:spcBef>
            </a:pPr>
            <a:endParaRPr lang="en-US" sz="2800" b="0" strike="noStrike" spc="-1" dirty="0">
              <a:latin typeface="Arial"/>
              <a:ea typeface="Microsoft YaHei"/>
            </a:endParaRPr>
          </a:p>
          <a:p>
            <a:pPr algn="ctr">
              <a:lnSpc>
                <a:spcPct val="90000"/>
              </a:lnSpc>
              <a:spcBef>
                <a:spcPts val="717"/>
              </a:spcBef>
            </a:pPr>
            <a:endParaRPr lang="en-US" sz="2800" b="0" strike="noStrike" spc="-1" dirty="0">
              <a:latin typeface="Arial"/>
              <a:ea typeface="Microsoft YaHei"/>
            </a:endParaRPr>
          </a:p>
        </p:txBody>
      </p:sp>
      <p:pic>
        <p:nvPicPr>
          <p:cNvPr id="98" name="Picture 3"/>
          <p:cNvPicPr/>
          <p:nvPr/>
        </p:nvPicPr>
        <p:blipFill>
          <a:blip r:embed="rId2"/>
          <a:stretch/>
        </p:blipFill>
        <p:spPr>
          <a:xfrm>
            <a:off x="191520" y="14040"/>
            <a:ext cx="1271160" cy="1078560"/>
          </a:xfrm>
          <a:prstGeom prst="rect">
            <a:avLst/>
          </a:prstGeom>
          <a:ln>
            <a:noFill/>
          </a:ln>
        </p:spPr>
      </p:pic>
      <p:pic>
        <p:nvPicPr>
          <p:cNvPr id="99" name="Picture 4"/>
          <p:cNvPicPr/>
          <p:nvPr/>
        </p:nvPicPr>
        <p:blipFill>
          <a:blip r:embed="rId3"/>
          <a:stretch/>
        </p:blipFill>
        <p:spPr>
          <a:xfrm>
            <a:off x="10710720" y="14040"/>
            <a:ext cx="1480680" cy="1109160"/>
          </a:xfrm>
          <a:prstGeom prst="rect">
            <a:avLst/>
          </a:prstGeom>
          <a:ln>
            <a:noFill/>
          </a:ln>
        </p:spPr>
      </p:pic>
      <p:sp>
        <p:nvSpPr>
          <p:cNvPr id="100" name="CustomShape 3"/>
          <p:cNvSpPr/>
          <p:nvPr/>
        </p:nvSpPr>
        <p:spPr>
          <a:xfrm>
            <a:off x="4524480" y="1287720"/>
            <a:ext cx="314280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800" b="1" u="sng" strike="noStrike" spc="-1">
                <a:solidFill>
                  <a:srgbClr val="000000"/>
                </a:solidFill>
                <a:uFillTx/>
                <a:latin typeface="Times New Roman"/>
              </a:rPr>
              <a:t>INTRODUCTION</a:t>
            </a:r>
            <a:endParaRPr lang="en-US" sz="2800" b="0" strike="noStrike" spc="-1">
              <a:latin typeface="Arial"/>
            </a:endParaRPr>
          </a:p>
        </p:txBody>
      </p:sp>
      <p:sp>
        <p:nvSpPr>
          <p:cNvPr id="7" name="TextShape 1">
            <a:extLst>
              <a:ext uri="{FF2B5EF4-FFF2-40B4-BE49-F238E27FC236}">
                <a16:creationId xmlns:a16="http://schemas.microsoft.com/office/drawing/2014/main" id="{C2AB3A37-3289-4D0D-8E5A-9070758E3E99}"/>
              </a:ext>
            </a:extLst>
          </p:cNvPr>
          <p:cNvSpPr txBox="1"/>
          <p:nvPr/>
        </p:nvSpPr>
        <p:spPr>
          <a:xfrm>
            <a:off x="1153550" y="4464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2"/>
          <p:cNvSpPr txBox="1"/>
          <p:nvPr/>
        </p:nvSpPr>
        <p:spPr>
          <a:xfrm>
            <a:off x="1279079" y="2388061"/>
            <a:ext cx="9945000" cy="4964760"/>
          </a:xfrm>
          <a:prstGeom prst="rect">
            <a:avLst/>
          </a:prstGeom>
          <a:noFill/>
          <a:ln>
            <a:noFill/>
          </a:ln>
        </p:spPr>
        <p:txBody>
          <a:bodyPr>
            <a:normAutofit/>
          </a:bodyPr>
          <a:lstStyle/>
          <a:p>
            <a:pPr marL="457200" indent="-456840" algn="just">
              <a:lnSpc>
                <a:spcPct val="100000"/>
              </a:lnSpc>
              <a:spcBef>
                <a:spcPts val="1417"/>
              </a:spcBef>
              <a:buClr>
                <a:srgbClr val="000000"/>
              </a:buClr>
              <a:buFont typeface="Arial"/>
              <a:buChar char="•"/>
            </a:pPr>
            <a:r>
              <a:rPr lang="en-US" sz="2400" b="0" strike="noStrike" spc="-1" dirty="0">
                <a:solidFill>
                  <a:srgbClr val="000000"/>
                </a:solidFill>
                <a:latin typeface="Calibri"/>
                <a:ea typeface="DejaVu Sans"/>
              </a:rPr>
              <a:t>In rural and remote areas, there is a frequent issue of unauthorized intrusion by animals or strangers into farmland, restricted zones, or property boundaries. Traditional surveillance systems like CCTV require constant human monitoring and often fail at night or in poor weather conditions. Additionally, most systems lack real-time alerts, long-range communication, or automated threat detection.</a:t>
            </a:r>
            <a:endParaRPr lang="en-US" sz="2400" b="0" strike="noStrike" spc="-1" dirty="0">
              <a:latin typeface="Arial"/>
              <a:ea typeface="Microsoft YaHei"/>
            </a:endParaRPr>
          </a:p>
          <a:p>
            <a:pPr>
              <a:lnSpc>
                <a:spcPct val="90000"/>
              </a:lnSpc>
              <a:spcBef>
                <a:spcPts val="717"/>
              </a:spcBef>
            </a:pPr>
            <a:endParaRPr lang="en-US" sz="2200" b="0" strike="noStrike" spc="-1" dirty="0">
              <a:latin typeface="Arial"/>
              <a:ea typeface="Microsoft YaHei"/>
            </a:endParaRPr>
          </a:p>
          <a:p>
            <a:pPr>
              <a:lnSpc>
                <a:spcPct val="90000"/>
              </a:lnSpc>
              <a:spcBef>
                <a:spcPts val="717"/>
              </a:spcBef>
            </a:pPr>
            <a:endParaRPr lang="en-US" sz="2200" b="0" strike="noStrike" spc="-1" dirty="0">
              <a:latin typeface="Arial"/>
              <a:ea typeface="Microsoft YaHei"/>
            </a:endParaRPr>
          </a:p>
          <a:p>
            <a:pPr algn="ctr">
              <a:lnSpc>
                <a:spcPct val="90000"/>
              </a:lnSpc>
              <a:spcBef>
                <a:spcPts val="717"/>
              </a:spcBef>
            </a:pPr>
            <a:endParaRPr lang="en-US" sz="2200" b="0" strike="noStrike" spc="-1" dirty="0">
              <a:latin typeface="Arial"/>
              <a:ea typeface="Microsoft YaHei"/>
            </a:endParaRPr>
          </a:p>
        </p:txBody>
      </p:sp>
      <p:pic>
        <p:nvPicPr>
          <p:cNvPr id="103" name="Picture 3"/>
          <p:cNvPicPr/>
          <p:nvPr/>
        </p:nvPicPr>
        <p:blipFill>
          <a:blip r:embed="rId2"/>
          <a:stretch/>
        </p:blipFill>
        <p:spPr>
          <a:xfrm>
            <a:off x="191520" y="14040"/>
            <a:ext cx="1271160" cy="1078560"/>
          </a:xfrm>
          <a:prstGeom prst="rect">
            <a:avLst/>
          </a:prstGeom>
          <a:ln>
            <a:noFill/>
          </a:ln>
        </p:spPr>
      </p:pic>
      <p:pic>
        <p:nvPicPr>
          <p:cNvPr id="104" name="Picture 4"/>
          <p:cNvPicPr/>
          <p:nvPr/>
        </p:nvPicPr>
        <p:blipFill>
          <a:blip r:embed="rId3"/>
          <a:stretch/>
        </p:blipFill>
        <p:spPr>
          <a:xfrm>
            <a:off x="10710720" y="14040"/>
            <a:ext cx="1480680" cy="1109160"/>
          </a:xfrm>
          <a:prstGeom prst="rect">
            <a:avLst/>
          </a:prstGeom>
          <a:ln>
            <a:noFill/>
          </a:ln>
        </p:spPr>
      </p:pic>
      <p:sp>
        <p:nvSpPr>
          <p:cNvPr id="105" name="CustomShape 3"/>
          <p:cNvSpPr/>
          <p:nvPr/>
        </p:nvSpPr>
        <p:spPr>
          <a:xfrm>
            <a:off x="4426320" y="1359312"/>
            <a:ext cx="3339360" cy="699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4000" b="0" strike="noStrike" spc="-12" dirty="0">
                <a:solidFill>
                  <a:srgbClr val="000000"/>
                </a:solidFill>
                <a:latin typeface="Calibri"/>
                <a:ea typeface="DejaVu Sans"/>
              </a:rPr>
              <a:t> </a:t>
            </a:r>
            <a:r>
              <a:rPr lang="en-US" sz="2800" b="1" u="sng" strike="noStrike" spc="-1" dirty="0">
                <a:solidFill>
                  <a:srgbClr val="000000"/>
                </a:solidFill>
                <a:latin typeface="Times New Roman"/>
                <a:ea typeface="DejaVu Sans"/>
              </a:rPr>
              <a:t>Problem Statement</a:t>
            </a:r>
            <a:endParaRPr lang="en-US" sz="2800" b="0" u="sng" strike="noStrike" spc="-1" dirty="0">
              <a:latin typeface="Arial"/>
            </a:endParaRPr>
          </a:p>
        </p:txBody>
      </p:sp>
      <p:sp>
        <p:nvSpPr>
          <p:cNvPr id="7" name="TextShape 1">
            <a:extLst>
              <a:ext uri="{FF2B5EF4-FFF2-40B4-BE49-F238E27FC236}">
                <a16:creationId xmlns:a16="http://schemas.microsoft.com/office/drawing/2014/main" id="{206F5D0F-6B43-489C-A20E-5CF3B43A7727}"/>
              </a:ext>
            </a:extLst>
          </p:cNvPr>
          <p:cNvSpPr txBox="1"/>
          <p:nvPr/>
        </p:nvSpPr>
        <p:spPr>
          <a:xfrm>
            <a:off x="1153550" y="4464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Shape 1"/>
          <p:cNvSpPr txBox="1"/>
          <p:nvPr/>
        </p:nvSpPr>
        <p:spPr>
          <a:xfrm>
            <a:off x="1463040" y="0"/>
            <a:ext cx="9187560" cy="1390680"/>
          </a:xfrm>
          <a:prstGeom prst="rect">
            <a:avLst/>
          </a:prstGeom>
          <a:noFill/>
          <a:ln>
            <a:noFill/>
          </a:ln>
        </p:spPr>
        <p:txBody>
          <a:bodyPr anchor="ctr">
            <a:normAutofit/>
          </a:bodyPr>
          <a:lstStyle/>
          <a:p>
            <a:pPr algn="ctr">
              <a:lnSpc>
                <a:spcPct val="90000"/>
              </a:lnSpc>
            </a:pPr>
            <a:r>
              <a:rPr lang="en-US" sz="31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pic>
        <p:nvPicPr>
          <p:cNvPr id="107" name="Picture 3"/>
          <p:cNvPicPr/>
          <p:nvPr/>
        </p:nvPicPr>
        <p:blipFill>
          <a:blip r:embed="rId2"/>
          <a:stretch/>
        </p:blipFill>
        <p:spPr>
          <a:xfrm>
            <a:off x="191520" y="44640"/>
            <a:ext cx="1271160" cy="1078560"/>
          </a:xfrm>
          <a:prstGeom prst="rect">
            <a:avLst/>
          </a:prstGeom>
          <a:ln>
            <a:noFill/>
          </a:ln>
        </p:spPr>
      </p:pic>
      <p:pic>
        <p:nvPicPr>
          <p:cNvPr id="108" name="Picture 5"/>
          <p:cNvPicPr/>
          <p:nvPr/>
        </p:nvPicPr>
        <p:blipFill>
          <a:blip r:embed="rId3"/>
          <a:stretch/>
        </p:blipFill>
        <p:spPr>
          <a:xfrm>
            <a:off x="10710720" y="14040"/>
            <a:ext cx="1480680" cy="1109160"/>
          </a:xfrm>
          <a:prstGeom prst="rect">
            <a:avLst/>
          </a:prstGeom>
          <a:ln>
            <a:noFill/>
          </a:ln>
        </p:spPr>
      </p:pic>
      <p:sp>
        <p:nvSpPr>
          <p:cNvPr id="109" name="CustomShape 2"/>
          <p:cNvSpPr/>
          <p:nvPr/>
        </p:nvSpPr>
        <p:spPr>
          <a:xfrm>
            <a:off x="4114800" y="1391040"/>
            <a:ext cx="359676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800" b="1" u="sng" strike="noStrike" spc="-1">
                <a:solidFill>
                  <a:srgbClr val="000000"/>
                </a:solidFill>
                <a:uFillTx/>
                <a:latin typeface="Times New Roman"/>
              </a:rPr>
              <a:t>ABSTRACT</a:t>
            </a:r>
            <a:endParaRPr lang="en-US" sz="2800" b="0" strike="noStrike" spc="-1">
              <a:latin typeface="Arial"/>
            </a:endParaRPr>
          </a:p>
        </p:txBody>
      </p:sp>
      <p:sp>
        <p:nvSpPr>
          <p:cNvPr id="110" name="TextShape 3"/>
          <p:cNvSpPr txBox="1"/>
          <p:nvPr/>
        </p:nvSpPr>
        <p:spPr>
          <a:xfrm>
            <a:off x="1188720" y="2194560"/>
            <a:ext cx="10149840" cy="3317040"/>
          </a:xfrm>
          <a:prstGeom prst="rect">
            <a:avLst/>
          </a:prstGeom>
          <a:noFill/>
          <a:ln>
            <a:noFill/>
          </a:ln>
        </p:spPr>
        <p:txBody>
          <a:bodyPr lIns="90000" tIns="45000" rIns="90000" bIns="45000">
            <a:spAutoFit/>
          </a:bodyPr>
          <a:lstStyle/>
          <a:p>
            <a:pPr algn="just"/>
            <a:r>
              <a:rPr lang="en-US" sz="2200" b="0" strike="noStrike" spc="-1" dirty="0">
                <a:latin typeface="Arial"/>
              </a:rPr>
              <a:t>Agricultural fields in rural areas often suffer heavy crop losses due to animal intrusion. Traditional methods like fencing or manual guarding are labor-intensive, unreliable, and </a:t>
            </a:r>
            <a:r>
              <a:rPr lang="en-US" sz="2200" b="0" strike="noStrike" spc="-1" dirty="0" err="1">
                <a:latin typeface="Arial"/>
              </a:rPr>
              <a:t>costly.This</a:t>
            </a:r>
            <a:r>
              <a:rPr lang="en-US" sz="2200" b="0" strike="noStrike" spc="-1" dirty="0">
                <a:latin typeface="Arial"/>
              </a:rPr>
              <a:t> project proposes a fog-based animal intrusion alert and field monitoring system using Raspberry Pi, PIR sensors, ultrasonic sensors, and Pi Camera integrated with AI-based image classification (TensorFlow Lite). The system detects animal movement, identifies the type of intruder, and sends real-time alerts via GSM/LoRa to farmers. Additionally, a buzzer/LED deterrent and optional local audio alerts are triggered to protect the crops.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Shape 1"/>
          <p:cNvSpPr txBox="1"/>
          <p:nvPr/>
        </p:nvSpPr>
        <p:spPr>
          <a:xfrm>
            <a:off x="1677240" y="297720"/>
            <a:ext cx="9033120" cy="735840"/>
          </a:xfrm>
          <a:prstGeom prst="rect">
            <a:avLst/>
          </a:prstGeom>
          <a:noFill/>
          <a:ln>
            <a:noFill/>
          </a:ln>
        </p:spPr>
        <p:txBody>
          <a:bodyPr anchor="ctr">
            <a:noAutofit/>
          </a:bodyPr>
          <a:lstStyle/>
          <a:p>
            <a:pPr>
              <a:lnSpc>
                <a:spcPct val="90000"/>
              </a:lnSpc>
            </a:pPr>
            <a:r>
              <a:rPr lang="en-US" sz="3100" b="1" strike="noStrike" spc="-1">
                <a:solidFill>
                  <a:srgbClr val="000000"/>
                </a:solidFill>
                <a:latin typeface="Arial Black"/>
              </a:rPr>
              <a:t>          Dhole Patil Education Society’s</a:t>
            </a:r>
            <a:br/>
            <a:r>
              <a:rPr lang="en-US" sz="3100" b="1" strike="noStrike" spc="-1">
                <a:solidFill>
                  <a:srgbClr val="000000"/>
                </a:solidFill>
                <a:latin typeface="Arial Black"/>
              </a:rPr>
              <a:t> Dhole Patil College of Engineering, Pune </a:t>
            </a:r>
            <a:endParaRPr lang="en-US" sz="3100" b="0" strike="noStrike" spc="-1">
              <a:solidFill>
                <a:srgbClr val="000000"/>
              </a:solidFill>
              <a:latin typeface="Calibri"/>
            </a:endParaRPr>
          </a:p>
        </p:txBody>
      </p:sp>
      <p:pic>
        <p:nvPicPr>
          <p:cNvPr id="112" name="Content Placeholder 3"/>
          <p:cNvPicPr/>
          <p:nvPr/>
        </p:nvPicPr>
        <p:blipFill>
          <a:blip r:embed="rId2"/>
          <a:stretch/>
        </p:blipFill>
        <p:spPr>
          <a:xfrm>
            <a:off x="208440" y="141480"/>
            <a:ext cx="1273680" cy="1078560"/>
          </a:xfrm>
          <a:prstGeom prst="rect">
            <a:avLst/>
          </a:prstGeom>
          <a:ln>
            <a:noFill/>
          </a:ln>
        </p:spPr>
      </p:pic>
      <p:pic>
        <p:nvPicPr>
          <p:cNvPr id="113" name="Picture 4"/>
          <p:cNvPicPr/>
          <p:nvPr/>
        </p:nvPicPr>
        <p:blipFill>
          <a:blip r:embed="rId3"/>
          <a:stretch/>
        </p:blipFill>
        <p:spPr>
          <a:xfrm>
            <a:off x="10710720" y="110880"/>
            <a:ext cx="1481040" cy="1109160"/>
          </a:xfrm>
          <a:prstGeom prst="rect">
            <a:avLst/>
          </a:prstGeom>
          <a:ln>
            <a:noFill/>
          </a:ln>
        </p:spPr>
      </p:pic>
      <p:sp>
        <p:nvSpPr>
          <p:cNvPr id="114" name="CustomShape 2"/>
          <p:cNvSpPr/>
          <p:nvPr/>
        </p:nvSpPr>
        <p:spPr>
          <a:xfrm>
            <a:off x="3633300" y="1220040"/>
            <a:ext cx="4610520" cy="6386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pPr>
            <a:r>
              <a:rPr lang="en-US" sz="1800" b="1" u="sng" strike="noStrike" spc="-1" dirty="0">
                <a:solidFill>
                  <a:srgbClr val="000000"/>
                </a:solidFill>
                <a:uFillTx/>
                <a:latin typeface="Times New Roman"/>
              </a:rPr>
              <a:t> </a:t>
            </a:r>
            <a:r>
              <a:rPr lang="en-US" sz="2800" b="1" u="sng" strike="noStrike" spc="-1" dirty="0">
                <a:solidFill>
                  <a:srgbClr val="000000"/>
                </a:solidFill>
                <a:uFillTx/>
                <a:latin typeface="Times New Roman"/>
              </a:rPr>
              <a:t>LITERATURE SURVEY</a:t>
            </a:r>
            <a:endParaRPr lang="en-US" sz="2800" b="0" strike="noStrike" spc="-1" dirty="0">
              <a:latin typeface="Arial"/>
            </a:endParaRPr>
          </a:p>
        </p:txBody>
      </p:sp>
      <p:sp>
        <p:nvSpPr>
          <p:cNvPr id="115" name="CustomShape 3"/>
          <p:cNvSpPr/>
          <p:nvPr/>
        </p:nvSpPr>
        <p:spPr>
          <a:xfrm>
            <a:off x="786600" y="2054880"/>
            <a:ext cx="10303920" cy="41018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nSpc>
                <a:spcPct val="100000"/>
              </a:lnSpc>
            </a:pPr>
            <a:r>
              <a:rPr lang="en-US" sz="2200" b="0" strike="noStrike" spc="-1">
                <a:solidFill>
                  <a:srgbClr val="000000"/>
                </a:solidFill>
                <a:latin typeface="Times New Roman"/>
              </a:rPr>
              <a:t>The application of AI and IoT in agriculture has grown significantly in recent years, aiming to improve crop protection, reduce manual intervention, and enhance precision farming. Several studies and developments have been conducted in the area of animal intrusion detection and smart farm monitoring systems.</a:t>
            </a:r>
            <a:endParaRPr lang="en-US" sz="2200" b="0" strike="noStrike" spc="-1">
              <a:latin typeface="Arial"/>
            </a:endParaRPr>
          </a:p>
          <a:p>
            <a:pPr>
              <a:lnSpc>
                <a:spcPct val="100000"/>
              </a:lnSpc>
            </a:pPr>
            <a:endParaRPr lang="en-US" sz="2200" b="0" strike="noStrike" spc="-1">
              <a:latin typeface="Arial"/>
            </a:endParaRPr>
          </a:p>
          <a:p>
            <a:pPr>
              <a:lnSpc>
                <a:spcPct val="100000"/>
              </a:lnSpc>
            </a:pPr>
            <a:r>
              <a:rPr lang="en-US" sz="2200" b="1" strike="noStrike" spc="-1">
                <a:solidFill>
                  <a:srgbClr val="000000"/>
                </a:solidFill>
                <a:latin typeface="Times New Roman"/>
              </a:rPr>
              <a:t>Fog-based Detection Systems</a:t>
            </a:r>
            <a:endParaRPr lang="en-US" sz="2200" b="0" strike="noStrike" spc="-1">
              <a:latin typeface="Arial"/>
            </a:endParaRPr>
          </a:p>
          <a:p>
            <a:pPr>
              <a:lnSpc>
                <a:spcPct val="100000"/>
              </a:lnSpc>
            </a:pPr>
            <a:r>
              <a:rPr lang="en-US" sz="2200" b="0" strike="noStrike" spc="-1">
                <a:solidFill>
                  <a:srgbClr val="000000"/>
                </a:solidFill>
                <a:latin typeface="Times New Roman"/>
              </a:rPr>
              <a:t>Researchers have explored fog and edge-computing models to process agricultural data locally, reducing latency and enabling real-time alerts. Singh et al. (2023) proposed a fog-based animal detection system using low-cost sensors and machine learning for crop protection.</a:t>
            </a:r>
            <a:endParaRPr lang="en-US" sz="2200" b="0" strike="noStrike" spc="-1">
              <a:latin typeface="Arial"/>
            </a:endParaRPr>
          </a:p>
          <a:p>
            <a:pPr algn="just">
              <a:lnSpc>
                <a:spcPct val="100000"/>
              </a:lnSpc>
            </a:pPr>
            <a:endParaRPr lang="en-US" sz="2200" b="0" strike="noStrike" spc="-1">
              <a:latin typeface="Arial"/>
            </a:endParaRPr>
          </a:p>
          <a:p>
            <a:pPr algn="just">
              <a:lnSpc>
                <a:spcPct val="100000"/>
              </a:lnSpc>
            </a:pPr>
            <a:endParaRPr lang="en-US" sz="2200" b="0" strike="noStrike" spc="-1">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Shape 1"/>
          <p:cNvSpPr txBox="1"/>
          <p:nvPr/>
        </p:nvSpPr>
        <p:spPr>
          <a:xfrm>
            <a:off x="453240" y="191880"/>
            <a:ext cx="11353320" cy="942120"/>
          </a:xfrm>
          <a:prstGeom prst="rect">
            <a:avLst/>
          </a:prstGeom>
          <a:noFill/>
          <a:ln>
            <a:noFill/>
          </a:ln>
        </p:spPr>
        <p:txBody>
          <a:bodyPr anchor="ctr">
            <a:normAutofit fontScale="99500"/>
          </a:bodyPr>
          <a:lstStyle/>
          <a:p>
            <a:pPr algn="ctr">
              <a:lnSpc>
                <a:spcPct val="90000"/>
              </a:lnSpc>
            </a:pPr>
            <a:r>
              <a:rPr lang="en-US" sz="31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sp>
        <p:nvSpPr>
          <p:cNvPr id="117" name="TextShape 2"/>
          <p:cNvSpPr txBox="1"/>
          <p:nvPr/>
        </p:nvSpPr>
        <p:spPr>
          <a:xfrm>
            <a:off x="2011680" y="1739160"/>
            <a:ext cx="8412480" cy="4844520"/>
          </a:xfrm>
          <a:prstGeom prst="rect">
            <a:avLst/>
          </a:prstGeom>
          <a:noFill/>
          <a:ln>
            <a:noFill/>
          </a:ln>
        </p:spPr>
        <p:txBody>
          <a:bodyPr>
            <a:normAutofit/>
          </a:bodyPr>
          <a:lstStyle/>
          <a:p>
            <a:pPr marL="228600" indent="-228240">
              <a:lnSpc>
                <a:spcPct val="100000"/>
              </a:lnSpc>
              <a:spcBef>
                <a:spcPts val="1001"/>
              </a:spcBef>
              <a:buClr>
                <a:srgbClr val="000000"/>
              </a:buClr>
              <a:buFont typeface="Arial"/>
              <a:buChar char="•"/>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a:p>
            <a:pPr>
              <a:lnSpc>
                <a:spcPct val="100000"/>
              </a:lnSpc>
              <a:spcBef>
                <a:spcPts val="1001"/>
              </a:spcBef>
            </a:pPr>
            <a:endParaRPr lang="en-US" sz="2800" b="0" strike="noStrike" spc="-1">
              <a:solidFill>
                <a:srgbClr val="000000"/>
              </a:solidFill>
              <a:latin typeface="Calibri"/>
            </a:endParaRPr>
          </a:p>
        </p:txBody>
      </p:sp>
      <p:pic>
        <p:nvPicPr>
          <p:cNvPr id="118" name="Picture 3"/>
          <p:cNvPicPr/>
          <p:nvPr/>
        </p:nvPicPr>
        <p:blipFill>
          <a:blip r:embed="rId3"/>
          <a:stretch/>
        </p:blipFill>
        <p:spPr>
          <a:xfrm>
            <a:off x="191520" y="44640"/>
            <a:ext cx="1271160" cy="1078560"/>
          </a:xfrm>
          <a:prstGeom prst="rect">
            <a:avLst/>
          </a:prstGeom>
          <a:ln>
            <a:noFill/>
          </a:ln>
        </p:spPr>
      </p:pic>
      <p:pic>
        <p:nvPicPr>
          <p:cNvPr id="119" name="Picture 4"/>
          <p:cNvPicPr/>
          <p:nvPr/>
        </p:nvPicPr>
        <p:blipFill>
          <a:blip r:embed="rId4"/>
          <a:stretch/>
        </p:blipFill>
        <p:spPr>
          <a:xfrm>
            <a:off x="10710720" y="14040"/>
            <a:ext cx="1480680" cy="1109160"/>
          </a:xfrm>
          <a:prstGeom prst="rect">
            <a:avLst/>
          </a:prstGeom>
          <a:ln>
            <a:noFill/>
          </a:ln>
        </p:spPr>
      </p:pic>
      <p:sp>
        <p:nvSpPr>
          <p:cNvPr id="120" name="CustomShape 3"/>
          <p:cNvSpPr/>
          <p:nvPr/>
        </p:nvSpPr>
        <p:spPr>
          <a:xfrm>
            <a:off x="3856029" y="1157871"/>
            <a:ext cx="4062600" cy="70643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4000" b="0" strike="noStrike" spc="-1" dirty="0">
                <a:solidFill>
                  <a:srgbClr val="000000"/>
                </a:solidFill>
                <a:latin typeface="Calibri"/>
                <a:ea typeface="DejaVu Sans"/>
              </a:rPr>
              <a:t>   </a:t>
            </a:r>
            <a:r>
              <a:rPr lang="en-US" sz="4000" b="0" u="sng" strike="noStrike" spc="-1" dirty="0">
                <a:solidFill>
                  <a:srgbClr val="000000"/>
                </a:solidFill>
                <a:latin typeface="Calibri"/>
                <a:ea typeface="DejaVu Sans"/>
              </a:rPr>
              <a:t>Block Diagram</a:t>
            </a:r>
            <a:endParaRPr lang="en-US" sz="4000" b="0" u="sng" strike="noStrike" spc="-1" dirty="0">
              <a:latin typeface="Arial"/>
            </a:endParaRPr>
          </a:p>
        </p:txBody>
      </p:sp>
      <p:pic>
        <p:nvPicPr>
          <p:cNvPr id="121" name="Picture 120"/>
          <p:cNvPicPr/>
          <p:nvPr/>
        </p:nvPicPr>
        <p:blipFill>
          <a:blip r:embed="rId5"/>
          <a:stretch/>
        </p:blipFill>
        <p:spPr>
          <a:xfrm>
            <a:off x="2011680" y="1888174"/>
            <a:ext cx="7751298" cy="4280566"/>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453240" y="191880"/>
            <a:ext cx="11353320" cy="942120"/>
          </a:xfrm>
          <a:prstGeom prst="rect">
            <a:avLst/>
          </a:prstGeom>
          <a:noFill/>
          <a:ln>
            <a:noFill/>
          </a:ln>
        </p:spPr>
        <p:txBody>
          <a:bodyPr anchor="ctr">
            <a:normAutofit fontScale="99500"/>
          </a:bodyPr>
          <a:lstStyle/>
          <a:p>
            <a:pPr algn="ctr">
              <a:lnSpc>
                <a:spcPct val="90000"/>
              </a:lnSpc>
            </a:pPr>
            <a:r>
              <a:rPr lang="en-US" sz="31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sp>
        <p:nvSpPr>
          <p:cNvPr id="123" name="TextShape 2"/>
          <p:cNvSpPr txBox="1"/>
          <p:nvPr/>
        </p:nvSpPr>
        <p:spPr>
          <a:xfrm>
            <a:off x="1371600" y="2194560"/>
            <a:ext cx="9784080" cy="4389120"/>
          </a:xfrm>
          <a:prstGeom prst="rect">
            <a:avLst/>
          </a:prstGeom>
          <a:noFill/>
          <a:ln>
            <a:noFill/>
          </a:ln>
        </p:spPr>
        <p:txBody>
          <a:bodyPr>
            <a:normAutofit/>
          </a:bodyPr>
          <a:lstStyle/>
          <a:p>
            <a:pPr marL="228600" indent="-228240">
              <a:lnSpc>
                <a:spcPct val="100000"/>
              </a:lnSpc>
              <a:spcBef>
                <a:spcPts val="434"/>
              </a:spcBef>
              <a:buClr>
                <a:srgbClr val="000000"/>
              </a:buClr>
              <a:buFont typeface="Arial"/>
              <a:buChar char="•"/>
            </a:pPr>
            <a:endParaRPr lang="en-US" sz="28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ea typeface="Microsoft YaHei"/>
              </a:rPr>
              <a:t>Microcontroller: </a:t>
            </a:r>
            <a:r>
              <a:rPr lang="en-US" sz="2400" b="0" strike="noStrike" spc="-1" dirty="0">
                <a:solidFill>
                  <a:srgbClr val="000000"/>
                </a:solidFill>
                <a:latin typeface="Times New Roman"/>
                <a:ea typeface="Microsoft YaHei"/>
              </a:rPr>
              <a:t>Raspberry Pi 4</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Sensors: </a:t>
            </a:r>
            <a:r>
              <a:rPr lang="en-US" sz="2400" b="0" strike="noStrike" spc="-1" dirty="0">
                <a:solidFill>
                  <a:srgbClr val="000000"/>
                </a:solidFill>
                <a:latin typeface="Times New Roman"/>
              </a:rPr>
              <a:t>PIR Motion Sensor, Ultrasonic Sensor</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Camera: </a:t>
            </a:r>
            <a:r>
              <a:rPr lang="en-US" sz="2400" b="0" strike="noStrike" spc="-1" dirty="0" err="1">
                <a:solidFill>
                  <a:srgbClr val="000000"/>
                </a:solidFill>
                <a:latin typeface="Times New Roman"/>
              </a:rPr>
              <a:t>NoIR</a:t>
            </a:r>
            <a:r>
              <a:rPr lang="en-US" sz="2400" b="0" strike="noStrike" spc="-1" dirty="0">
                <a:solidFill>
                  <a:srgbClr val="000000"/>
                </a:solidFill>
                <a:latin typeface="Times New Roman"/>
              </a:rPr>
              <a:t> Pi Camera with IR LEDs (night vision)</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AI Accelerator</a:t>
            </a:r>
            <a:r>
              <a:rPr lang="en-US" sz="2400" b="0" strike="noStrike" spc="-1" dirty="0">
                <a:solidFill>
                  <a:srgbClr val="000000"/>
                </a:solidFill>
                <a:latin typeface="Times New Roman"/>
              </a:rPr>
              <a:t>: (Optional) USB Coral TPU for faster inference</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Communication Modules:  </a:t>
            </a:r>
            <a:r>
              <a:rPr lang="en-US" sz="2400" b="0" strike="noStrike" spc="-1" dirty="0">
                <a:solidFill>
                  <a:srgbClr val="000000"/>
                </a:solidFill>
                <a:latin typeface="Times New Roman"/>
              </a:rPr>
              <a:t>LoRa Module</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Alert System</a:t>
            </a:r>
            <a:r>
              <a:rPr lang="en-US" sz="2400" b="0" strike="noStrike" spc="-1" dirty="0">
                <a:solidFill>
                  <a:srgbClr val="000000"/>
                </a:solidFill>
                <a:latin typeface="Times New Roman"/>
              </a:rPr>
              <a:t>: Buzzer, Flash LED</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Power Supply</a:t>
            </a:r>
            <a:r>
              <a:rPr lang="en-US" sz="2400" b="0" strike="noStrike" spc="-1" dirty="0">
                <a:solidFill>
                  <a:srgbClr val="000000"/>
                </a:solidFill>
                <a:latin typeface="Times New Roman"/>
              </a:rPr>
              <a:t>: Solar Panel with Battery Backup</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1" strike="noStrike" spc="-1" dirty="0">
                <a:solidFill>
                  <a:srgbClr val="000000"/>
                </a:solidFill>
                <a:latin typeface="Times New Roman"/>
              </a:rPr>
              <a:t>Supporting Components</a:t>
            </a:r>
            <a:r>
              <a:rPr lang="en-US" sz="2200" b="1" strike="noStrike" spc="-1" dirty="0">
                <a:solidFill>
                  <a:srgbClr val="000000"/>
                </a:solidFill>
                <a:latin typeface="Times New Roman"/>
              </a:rPr>
              <a:t>: </a:t>
            </a:r>
            <a:r>
              <a:rPr lang="en-US" sz="2200" b="0" strike="noStrike" spc="-1" dirty="0">
                <a:solidFill>
                  <a:srgbClr val="000000"/>
                </a:solidFill>
                <a:latin typeface="Times New Roman"/>
              </a:rPr>
              <a:t>Jumper Wires, Voltage Regulators, Enclosure Box</a:t>
            </a:r>
            <a:endParaRPr lang="en-US" sz="2200" b="0" strike="noStrike" spc="-1" dirty="0">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lang="en-US" sz="2200" b="0" strike="noStrike" spc="-1" dirty="0">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lang="en-US" sz="2200" b="0" strike="noStrike" spc="-1" dirty="0">
              <a:solidFill>
                <a:srgbClr val="000000"/>
              </a:solidFill>
              <a:latin typeface="Calibri"/>
              <a:ea typeface="Microsoft YaHe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a:p>
            <a:pPr>
              <a:lnSpc>
                <a:spcPct val="100000"/>
              </a:lnSpc>
              <a:spcBef>
                <a:spcPts val="1001"/>
              </a:spcBef>
            </a:pPr>
            <a:endParaRPr lang="en-US" sz="2200" b="0" strike="noStrike" spc="-1" dirty="0">
              <a:solidFill>
                <a:srgbClr val="000000"/>
              </a:solidFill>
              <a:latin typeface="Calibri"/>
            </a:endParaRPr>
          </a:p>
        </p:txBody>
      </p:sp>
      <p:pic>
        <p:nvPicPr>
          <p:cNvPr id="124" name="Picture 3"/>
          <p:cNvPicPr/>
          <p:nvPr/>
        </p:nvPicPr>
        <p:blipFill>
          <a:blip r:embed="rId3"/>
          <a:stretch/>
        </p:blipFill>
        <p:spPr>
          <a:xfrm>
            <a:off x="191520" y="44640"/>
            <a:ext cx="1271160" cy="1078560"/>
          </a:xfrm>
          <a:prstGeom prst="rect">
            <a:avLst/>
          </a:prstGeom>
          <a:ln>
            <a:noFill/>
          </a:ln>
        </p:spPr>
      </p:pic>
      <p:pic>
        <p:nvPicPr>
          <p:cNvPr id="125" name="Picture 4"/>
          <p:cNvPicPr/>
          <p:nvPr/>
        </p:nvPicPr>
        <p:blipFill>
          <a:blip r:embed="rId4"/>
          <a:stretch/>
        </p:blipFill>
        <p:spPr>
          <a:xfrm>
            <a:off x="10710720" y="14040"/>
            <a:ext cx="1480680" cy="1109160"/>
          </a:xfrm>
          <a:prstGeom prst="rect">
            <a:avLst/>
          </a:prstGeom>
          <a:ln>
            <a:noFill/>
          </a:ln>
        </p:spPr>
      </p:pic>
      <p:sp>
        <p:nvSpPr>
          <p:cNvPr id="126" name="CustomShape 3"/>
          <p:cNvSpPr/>
          <p:nvPr/>
        </p:nvSpPr>
        <p:spPr>
          <a:xfrm>
            <a:off x="4114800" y="1494720"/>
            <a:ext cx="406260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800" b="1" u="sng" strike="noStrike" spc="-1">
                <a:solidFill>
                  <a:srgbClr val="000000"/>
                </a:solidFill>
                <a:uFillTx/>
                <a:latin typeface="Times New Roman"/>
              </a:rPr>
              <a:t>SPECIFICATIONS</a:t>
            </a:r>
            <a:endParaRPr lang="en-US" sz="2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TextShape 1"/>
          <p:cNvSpPr txBox="1"/>
          <p:nvPr/>
        </p:nvSpPr>
        <p:spPr>
          <a:xfrm>
            <a:off x="453240" y="191880"/>
            <a:ext cx="11353320" cy="942120"/>
          </a:xfrm>
          <a:prstGeom prst="rect">
            <a:avLst/>
          </a:prstGeom>
          <a:noFill/>
          <a:ln>
            <a:noFill/>
          </a:ln>
        </p:spPr>
        <p:txBody>
          <a:bodyPr anchor="ctr">
            <a:normAutofit fontScale="99500"/>
          </a:bodyPr>
          <a:lstStyle/>
          <a:p>
            <a:pPr algn="ctr">
              <a:lnSpc>
                <a:spcPct val="90000"/>
              </a:lnSpc>
            </a:pPr>
            <a:r>
              <a:rPr lang="en-US" sz="31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sp>
        <p:nvSpPr>
          <p:cNvPr id="128" name="TextShape 2"/>
          <p:cNvSpPr txBox="1"/>
          <p:nvPr/>
        </p:nvSpPr>
        <p:spPr>
          <a:xfrm>
            <a:off x="1237860" y="2277000"/>
            <a:ext cx="9784080" cy="4389120"/>
          </a:xfrm>
          <a:prstGeom prst="rect">
            <a:avLst/>
          </a:prstGeom>
          <a:noFill/>
          <a:ln>
            <a:noFill/>
          </a:ln>
        </p:spPr>
        <p:txBody>
          <a:bodyPr>
            <a:normAutofit/>
          </a:bodyPr>
          <a:lstStyle/>
          <a:p>
            <a:pPr marL="228600" indent="-228240">
              <a:lnSpc>
                <a:spcPct val="100000"/>
              </a:lnSpc>
              <a:spcBef>
                <a:spcPts val="434"/>
              </a:spcBef>
              <a:buClr>
                <a:srgbClr val="000000"/>
              </a:buClr>
              <a:buFont typeface="Arial"/>
              <a:buChar char="•"/>
            </a:pPr>
            <a:endParaRPr lang="en-US" sz="2400" b="0" strike="noStrike" spc="-1" dirty="0">
              <a:solidFill>
                <a:srgbClr val="000000"/>
              </a:solidFill>
              <a:latin typeface="Calibri"/>
              <a:ea typeface="Microsoft YaHei"/>
            </a:endParaRPr>
          </a:p>
          <a:p>
            <a:pPr marL="228600" indent="-228240">
              <a:lnSpc>
                <a:spcPct val="150000"/>
              </a:lnSpc>
              <a:buClr>
                <a:srgbClr val="000000"/>
              </a:buClr>
              <a:buFont typeface="Arial"/>
              <a:buChar char="•"/>
            </a:pPr>
            <a:r>
              <a:rPr lang="en-US" sz="2400" b="0" strike="noStrike" spc="-1" dirty="0">
                <a:solidFill>
                  <a:srgbClr val="000000"/>
                </a:solidFill>
                <a:latin typeface="Arial"/>
                <a:ea typeface="DejaVu Sans"/>
              </a:rPr>
              <a:t>Raspberry Pi </a:t>
            </a:r>
            <a:endParaRPr lang="en-US" sz="2400" b="0" strike="noStrike" spc="-1" dirty="0">
              <a:solidFill>
                <a:srgbClr val="000000"/>
              </a:solidFill>
              <a:latin typeface="Calibri"/>
              <a:ea typeface="Microsoft YaHei"/>
            </a:endParaRPr>
          </a:p>
          <a:p>
            <a:pPr marL="228600" indent="-228240">
              <a:lnSpc>
                <a:spcPct val="150000"/>
              </a:lnSpc>
              <a:buClr>
                <a:srgbClr val="000000"/>
              </a:buClr>
              <a:buFont typeface="Arial"/>
              <a:buChar char="•"/>
            </a:pPr>
            <a:r>
              <a:rPr lang="en-US" sz="2400" b="0" strike="noStrike" spc="-1" dirty="0">
                <a:solidFill>
                  <a:srgbClr val="000000"/>
                </a:solidFill>
                <a:latin typeface="Arial"/>
                <a:ea typeface="DejaVu Sans"/>
              </a:rPr>
              <a:t>Python 3.9+</a:t>
            </a:r>
            <a:endParaRPr lang="en-US" sz="2400" b="0" strike="noStrike" spc="-1" dirty="0">
              <a:solidFill>
                <a:srgbClr val="000000"/>
              </a:solidFill>
              <a:latin typeface="Calibri"/>
              <a:ea typeface="Microsoft YaHei"/>
            </a:endParaRPr>
          </a:p>
          <a:p>
            <a:pPr marL="228600" indent="-228240">
              <a:lnSpc>
                <a:spcPct val="150000"/>
              </a:lnSpc>
              <a:buClr>
                <a:srgbClr val="000000"/>
              </a:buClr>
              <a:buFont typeface="Arial"/>
              <a:buChar char="•"/>
            </a:pPr>
            <a:r>
              <a:rPr lang="en-US" sz="2400" b="0" strike="noStrike" spc="-1" dirty="0">
                <a:solidFill>
                  <a:srgbClr val="000000"/>
                </a:solidFill>
                <a:latin typeface="Arial"/>
                <a:ea typeface="DejaVu Sans"/>
              </a:rPr>
              <a:t>OpenCV</a:t>
            </a:r>
            <a:endParaRPr lang="en-US" sz="2400" b="0" strike="noStrike" spc="-1" dirty="0">
              <a:solidFill>
                <a:srgbClr val="000000"/>
              </a:solidFill>
              <a:latin typeface="Calibri"/>
              <a:ea typeface="Microsoft YaHei"/>
            </a:endParaRPr>
          </a:p>
          <a:p>
            <a:pPr marL="228600" indent="-228240">
              <a:lnSpc>
                <a:spcPct val="150000"/>
              </a:lnSpc>
              <a:buClr>
                <a:srgbClr val="000000"/>
              </a:buClr>
              <a:buFont typeface="Arial"/>
              <a:buChar char="•"/>
            </a:pPr>
            <a:r>
              <a:rPr lang="en-US" sz="2400" b="0" strike="noStrike" spc="-1" dirty="0">
                <a:solidFill>
                  <a:srgbClr val="000000"/>
                </a:solidFill>
                <a:latin typeface="Arial"/>
                <a:ea typeface="DejaVu Sans"/>
              </a:rPr>
              <a:t>TensorFlow Lite</a:t>
            </a:r>
            <a:endParaRPr lang="en-US" sz="2400" b="0" strike="noStrike" spc="-1" dirty="0">
              <a:solidFill>
                <a:srgbClr val="000000"/>
              </a:solidFill>
              <a:latin typeface="Calibri"/>
              <a:ea typeface="Microsoft YaHei"/>
            </a:endParaRPr>
          </a:p>
          <a:p>
            <a:pPr marL="228600" indent="-228240">
              <a:lnSpc>
                <a:spcPct val="100000"/>
              </a:lnSpc>
              <a:spcBef>
                <a:spcPts val="434"/>
              </a:spcBef>
              <a:buClr>
                <a:srgbClr val="000000"/>
              </a:buClr>
              <a:buFont typeface="Arial"/>
              <a:buChar char="•"/>
            </a:pPr>
            <a:r>
              <a:rPr lang="en-US" sz="2400" b="0" strike="noStrike" spc="-1" dirty="0">
                <a:solidFill>
                  <a:srgbClr val="000000"/>
                </a:solidFill>
                <a:latin typeface="Arial"/>
                <a:ea typeface="DejaVu Sans"/>
              </a:rPr>
              <a:t>Deep learning</a:t>
            </a:r>
            <a:endParaRPr lang="en-US" sz="2400" b="0" strike="noStrike" spc="-1" dirty="0">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lang="en-US" sz="2800" b="0" strike="noStrike" spc="-1" dirty="0">
              <a:solidFill>
                <a:srgbClr val="000000"/>
              </a:solidFill>
              <a:latin typeface="Calibri"/>
              <a:ea typeface="Microsoft YaHei"/>
            </a:endParaRPr>
          </a:p>
          <a:p>
            <a:pPr marL="216000" indent="-216000">
              <a:lnSpc>
                <a:spcPct val="100000"/>
              </a:lnSpc>
              <a:spcBef>
                <a:spcPts val="434"/>
              </a:spcBef>
              <a:buClr>
                <a:srgbClr val="000000"/>
              </a:buClr>
              <a:buSzPct val="45000"/>
              <a:buFont typeface="Wingdings" charset="2"/>
              <a:buChar char=""/>
            </a:pPr>
            <a:endParaRPr lang="en-US" sz="2800" b="0" strike="noStrike" spc="-1" dirty="0">
              <a:solidFill>
                <a:srgbClr val="000000"/>
              </a:solidFill>
              <a:latin typeface="Calibri"/>
              <a:ea typeface="Microsoft YaHe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a:p>
            <a:pPr>
              <a:lnSpc>
                <a:spcPct val="100000"/>
              </a:lnSpc>
              <a:spcBef>
                <a:spcPts val="1001"/>
              </a:spcBef>
            </a:pPr>
            <a:endParaRPr lang="en-US" sz="2800" b="0" strike="noStrike" spc="-1" dirty="0">
              <a:solidFill>
                <a:srgbClr val="000000"/>
              </a:solidFill>
              <a:latin typeface="Calibri"/>
            </a:endParaRPr>
          </a:p>
        </p:txBody>
      </p:sp>
      <p:pic>
        <p:nvPicPr>
          <p:cNvPr id="129" name="Picture 3"/>
          <p:cNvPicPr/>
          <p:nvPr/>
        </p:nvPicPr>
        <p:blipFill>
          <a:blip r:embed="rId3"/>
          <a:stretch/>
        </p:blipFill>
        <p:spPr>
          <a:xfrm>
            <a:off x="191520" y="44640"/>
            <a:ext cx="1271160" cy="1078560"/>
          </a:xfrm>
          <a:prstGeom prst="rect">
            <a:avLst/>
          </a:prstGeom>
          <a:ln>
            <a:noFill/>
          </a:ln>
        </p:spPr>
      </p:pic>
      <p:pic>
        <p:nvPicPr>
          <p:cNvPr id="130" name="Picture 4"/>
          <p:cNvPicPr/>
          <p:nvPr/>
        </p:nvPicPr>
        <p:blipFill>
          <a:blip r:embed="rId4"/>
          <a:stretch/>
        </p:blipFill>
        <p:spPr>
          <a:xfrm>
            <a:off x="10710720" y="14040"/>
            <a:ext cx="1480680" cy="1109160"/>
          </a:xfrm>
          <a:prstGeom prst="rect">
            <a:avLst/>
          </a:prstGeom>
          <a:ln>
            <a:noFill/>
          </a:ln>
        </p:spPr>
      </p:pic>
      <p:sp>
        <p:nvSpPr>
          <p:cNvPr id="131" name="CustomShape 3"/>
          <p:cNvSpPr/>
          <p:nvPr/>
        </p:nvSpPr>
        <p:spPr>
          <a:xfrm>
            <a:off x="4726744" y="1494720"/>
            <a:ext cx="3450655" cy="521766"/>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800" b="1" u="sng" strike="noStrike" spc="-1" dirty="0">
                <a:solidFill>
                  <a:srgbClr val="000000"/>
                </a:solidFill>
                <a:latin typeface="Arial"/>
                <a:ea typeface="DejaVu Sans"/>
              </a:rPr>
              <a:t>Software Used</a:t>
            </a:r>
            <a:endParaRPr lang="en-US" sz="2800" b="1" u="sng" strike="noStrike" spc="-1" dirty="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 name="Picture 6"/>
          <p:cNvPicPr/>
          <p:nvPr/>
        </p:nvPicPr>
        <p:blipFill>
          <a:blip r:embed="rId2"/>
          <a:stretch/>
        </p:blipFill>
        <p:spPr>
          <a:xfrm>
            <a:off x="161280" y="48960"/>
            <a:ext cx="1353600" cy="1146240"/>
          </a:xfrm>
          <a:prstGeom prst="rect">
            <a:avLst/>
          </a:prstGeom>
          <a:ln>
            <a:noFill/>
          </a:ln>
        </p:spPr>
      </p:pic>
      <p:pic>
        <p:nvPicPr>
          <p:cNvPr id="134" name="Picture 8"/>
          <p:cNvPicPr/>
          <p:nvPr/>
        </p:nvPicPr>
        <p:blipFill>
          <a:blip r:embed="rId3"/>
          <a:stretch/>
        </p:blipFill>
        <p:spPr>
          <a:xfrm>
            <a:off x="10591200" y="85680"/>
            <a:ext cx="1600560" cy="1198800"/>
          </a:xfrm>
          <a:prstGeom prst="rect">
            <a:avLst/>
          </a:prstGeom>
          <a:ln>
            <a:noFill/>
          </a:ln>
        </p:spPr>
      </p:pic>
      <p:sp>
        <p:nvSpPr>
          <p:cNvPr id="135" name="CustomShape 2"/>
          <p:cNvSpPr/>
          <p:nvPr/>
        </p:nvSpPr>
        <p:spPr>
          <a:xfrm>
            <a:off x="4093920" y="1131480"/>
            <a:ext cx="3687480" cy="456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400" b="1" u="sng" strike="noStrike" spc="-1">
                <a:solidFill>
                  <a:srgbClr val="000000"/>
                </a:solidFill>
                <a:uFillTx/>
                <a:latin typeface="Calibri"/>
              </a:rPr>
              <a:t>IMPLIMENTAION DETAIL </a:t>
            </a:r>
            <a:endParaRPr lang="en-US" sz="2400" b="0" strike="noStrike" spc="-1">
              <a:latin typeface="Arial"/>
            </a:endParaRPr>
          </a:p>
        </p:txBody>
      </p:sp>
      <p:sp>
        <p:nvSpPr>
          <p:cNvPr id="136" name="CustomShape 3"/>
          <p:cNvSpPr/>
          <p:nvPr/>
        </p:nvSpPr>
        <p:spPr>
          <a:xfrm>
            <a:off x="1005840" y="1920240"/>
            <a:ext cx="10241280" cy="449208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200" b="0" strike="noStrike" spc="-1" dirty="0">
                <a:solidFill>
                  <a:srgbClr val="000000"/>
                </a:solidFill>
                <a:latin typeface="Times New Roman"/>
              </a:rPr>
              <a:t> 1</a:t>
            </a:r>
            <a:r>
              <a:rPr lang="en-US" sz="2200" b="1" strike="noStrike" spc="-1" dirty="0">
                <a:solidFill>
                  <a:srgbClr val="000000"/>
                </a:solidFill>
                <a:latin typeface="Times New Roman"/>
              </a:rPr>
              <a:t>) Raspberry Pi 4 </a:t>
            </a:r>
            <a:r>
              <a:rPr lang="en-US" sz="2200" b="0" strike="noStrike" spc="-1" dirty="0">
                <a:solidFill>
                  <a:srgbClr val="000000"/>
                </a:solidFill>
                <a:latin typeface="Times New Roman"/>
              </a:rPr>
              <a:t>– works as the main controller.</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2) </a:t>
            </a:r>
            <a:r>
              <a:rPr lang="en-US" sz="2200" b="1" strike="noStrike" spc="-1" dirty="0">
                <a:solidFill>
                  <a:srgbClr val="000000"/>
                </a:solidFill>
                <a:latin typeface="Times New Roman"/>
              </a:rPr>
              <a:t>PIR Sensor </a:t>
            </a:r>
            <a:r>
              <a:rPr lang="en-US" sz="2200" b="0" strike="noStrike" spc="-1" dirty="0">
                <a:solidFill>
                  <a:srgbClr val="000000"/>
                </a:solidFill>
                <a:latin typeface="Times New Roman"/>
              </a:rPr>
              <a:t>– connected to GPIO pins for motion detection.</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3) </a:t>
            </a:r>
            <a:r>
              <a:rPr lang="en-US" sz="2200" b="1" strike="noStrike" spc="-1" dirty="0">
                <a:solidFill>
                  <a:srgbClr val="000000"/>
                </a:solidFill>
                <a:latin typeface="Times New Roman"/>
              </a:rPr>
              <a:t>Ultrasonic Sensor </a:t>
            </a:r>
            <a:r>
              <a:rPr lang="en-US" sz="2200" b="0" strike="noStrike" spc="-1" dirty="0">
                <a:solidFill>
                  <a:srgbClr val="000000"/>
                </a:solidFill>
                <a:latin typeface="Times New Roman"/>
              </a:rPr>
              <a:t>– connected to GPIO pins for distance measurement.</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4) </a:t>
            </a:r>
            <a:r>
              <a:rPr lang="en-US" sz="2200" b="1" strike="noStrike" spc="-1" dirty="0">
                <a:solidFill>
                  <a:srgbClr val="000000"/>
                </a:solidFill>
                <a:latin typeface="Times New Roman"/>
              </a:rPr>
              <a:t>Pi Camera (</a:t>
            </a:r>
            <a:r>
              <a:rPr lang="en-US" sz="2200" b="1" strike="noStrike" spc="-1" dirty="0" err="1">
                <a:solidFill>
                  <a:srgbClr val="000000"/>
                </a:solidFill>
                <a:latin typeface="Times New Roman"/>
              </a:rPr>
              <a:t>NoIR</a:t>
            </a:r>
            <a:r>
              <a:rPr lang="en-US" sz="2200" b="0" strike="noStrike" spc="-1" dirty="0">
                <a:solidFill>
                  <a:srgbClr val="000000"/>
                </a:solidFill>
                <a:latin typeface="Times New Roman"/>
              </a:rPr>
              <a:t>) – connected via camera interface for capturing images.</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5) </a:t>
            </a:r>
            <a:r>
              <a:rPr lang="en-US" sz="2200" b="1" strike="noStrike" spc="-1" dirty="0">
                <a:solidFill>
                  <a:srgbClr val="000000"/>
                </a:solidFill>
                <a:latin typeface="Times New Roman"/>
              </a:rPr>
              <a:t>LoRa Module </a:t>
            </a:r>
            <a:r>
              <a:rPr lang="en-US" sz="2200" b="0" strike="noStrike" spc="-1" dirty="0">
                <a:solidFill>
                  <a:srgbClr val="000000"/>
                </a:solidFill>
                <a:latin typeface="Times New Roman"/>
              </a:rPr>
              <a:t>– connected via SPI/I2C for long-range wireless communication.</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6) </a:t>
            </a:r>
            <a:r>
              <a:rPr lang="en-US" sz="2200" b="1" strike="noStrike" spc="-1" dirty="0">
                <a:solidFill>
                  <a:srgbClr val="000000"/>
                </a:solidFill>
                <a:latin typeface="Times New Roman"/>
              </a:rPr>
              <a:t>Buzzer / LED </a:t>
            </a:r>
            <a:r>
              <a:rPr lang="en-US" sz="2200" b="0" strike="noStrike" spc="-1" dirty="0">
                <a:solidFill>
                  <a:srgbClr val="000000"/>
                </a:solidFill>
                <a:latin typeface="Times New Roman"/>
              </a:rPr>
              <a:t>– connected to GPIO pins for local alert system.</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7</a:t>
            </a:r>
            <a:r>
              <a:rPr lang="en-US" sz="2200" b="1" strike="noStrike" spc="-1" dirty="0">
                <a:solidFill>
                  <a:srgbClr val="000000"/>
                </a:solidFill>
                <a:latin typeface="Times New Roman"/>
              </a:rPr>
              <a:t>) Solar Panel with Battery </a:t>
            </a:r>
            <a:r>
              <a:rPr lang="en-US" sz="2200" b="0" strike="noStrike" spc="-1" dirty="0">
                <a:solidFill>
                  <a:srgbClr val="000000"/>
                </a:solidFill>
                <a:latin typeface="Times New Roman"/>
              </a:rPr>
              <a:t>– supplies power to Raspberry Pi and all modules.</a:t>
            </a:r>
            <a:endParaRPr lang="en-US" sz="2200" b="0" strike="noStrike" spc="-1" dirty="0">
              <a:latin typeface="Arial"/>
            </a:endParaRPr>
          </a:p>
        </p:txBody>
      </p:sp>
      <p:sp>
        <p:nvSpPr>
          <p:cNvPr id="7" name="TextShape 1">
            <a:extLst>
              <a:ext uri="{FF2B5EF4-FFF2-40B4-BE49-F238E27FC236}">
                <a16:creationId xmlns:a16="http://schemas.microsoft.com/office/drawing/2014/main" id="{F7800392-4739-48CD-AEE3-1EAEC2E47F40}"/>
              </a:ext>
            </a:extLst>
          </p:cNvPr>
          <p:cNvSpPr txBox="1"/>
          <p:nvPr/>
        </p:nvSpPr>
        <p:spPr>
          <a:xfrm>
            <a:off x="1091215" y="-42757"/>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
        <p:nvSpPr>
          <p:cNvPr id="8" name="CustomShape 3">
            <a:extLst>
              <a:ext uri="{FF2B5EF4-FFF2-40B4-BE49-F238E27FC236}">
                <a16:creationId xmlns:a16="http://schemas.microsoft.com/office/drawing/2014/main" id="{30F9CA58-4A2A-41B0-8F88-0FC484FB8AE6}"/>
              </a:ext>
            </a:extLst>
          </p:cNvPr>
          <p:cNvSpPr/>
          <p:nvPr/>
        </p:nvSpPr>
        <p:spPr>
          <a:xfrm>
            <a:off x="1005839" y="1920240"/>
            <a:ext cx="10241280" cy="449208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200" b="0" strike="noStrike" spc="-1" dirty="0">
                <a:solidFill>
                  <a:srgbClr val="000000"/>
                </a:solidFill>
                <a:latin typeface="Times New Roman"/>
              </a:rPr>
              <a:t> 1</a:t>
            </a:r>
            <a:r>
              <a:rPr lang="en-US" sz="2200" b="1" strike="noStrike" spc="-1" dirty="0">
                <a:solidFill>
                  <a:srgbClr val="000000"/>
                </a:solidFill>
                <a:latin typeface="Times New Roman"/>
              </a:rPr>
              <a:t>) Raspberry Pi 4 </a:t>
            </a:r>
            <a:r>
              <a:rPr lang="en-US" sz="2200" b="0" strike="noStrike" spc="-1" dirty="0">
                <a:solidFill>
                  <a:srgbClr val="000000"/>
                </a:solidFill>
                <a:latin typeface="Times New Roman"/>
              </a:rPr>
              <a:t>– works as the main controller.</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a:t>
            </a:r>
            <a:r>
              <a:rPr lang="en-US" sz="2200" b="1" strike="noStrike" spc="-1" dirty="0">
                <a:solidFill>
                  <a:srgbClr val="000000"/>
                </a:solidFill>
                <a:latin typeface="Times New Roman"/>
              </a:rPr>
              <a:t>2)</a:t>
            </a:r>
            <a:r>
              <a:rPr lang="en-US" sz="2200" b="0" strike="noStrike" spc="-1" dirty="0">
                <a:solidFill>
                  <a:srgbClr val="000000"/>
                </a:solidFill>
                <a:latin typeface="Times New Roman"/>
              </a:rPr>
              <a:t> </a:t>
            </a:r>
            <a:r>
              <a:rPr lang="en-US" sz="2200" b="1" strike="noStrike" spc="-1" dirty="0">
                <a:solidFill>
                  <a:srgbClr val="000000"/>
                </a:solidFill>
                <a:latin typeface="Times New Roman"/>
              </a:rPr>
              <a:t>PIR Sensor </a:t>
            </a:r>
            <a:r>
              <a:rPr lang="en-US" sz="2200" b="0" strike="noStrike" spc="-1" dirty="0">
                <a:solidFill>
                  <a:srgbClr val="000000"/>
                </a:solidFill>
                <a:latin typeface="Times New Roman"/>
              </a:rPr>
              <a:t>– connected to GPIO pins for motion detection.</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1" strike="noStrike" spc="-1" dirty="0">
                <a:solidFill>
                  <a:srgbClr val="000000"/>
                </a:solidFill>
                <a:latin typeface="Times New Roman"/>
              </a:rPr>
              <a:t> 3)</a:t>
            </a:r>
            <a:r>
              <a:rPr lang="en-US" sz="2200" b="0" strike="noStrike" spc="-1" dirty="0">
                <a:solidFill>
                  <a:srgbClr val="000000"/>
                </a:solidFill>
                <a:latin typeface="Times New Roman"/>
              </a:rPr>
              <a:t> </a:t>
            </a:r>
            <a:r>
              <a:rPr lang="en-US" sz="2200" b="1" strike="noStrike" spc="-1" dirty="0">
                <a:solidFill>
                  <a:srgbClr val="000000"/>
                </a:solidFill>
                <a:latin typeface="Times New Roman"/>
              </a:rPr>
              <a:t>Ultrasonic Sensor </a:t>
            </a:r>
            <a:r>
              <a:rPr lang="en-US" sz="2200" b="0" strike="noStrike" spc="-1" dirty="0">
                <a:solidFill>
                  <a:srgbClr val="000000"/>
                </a:solidFill>
                <a:latin typeface="Times New Roman"/>
              </a:rPr>
              <a:t>– connected to GPIO pins for distance measurement.</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a:t>
            </a:r>
            <a:r>
              <a:rPr lang="en-US" sz="2200" b="1" strike="noStrike" spc="-1" dirty="0">
                <a:solidFill>
                  <a:srgbClr val="000000"/>
                </a:solidFill>
                <a:latin typeface="Times New Roman"/>
              </a:rPr>
              <a:t>4)</a:t>
            </a:r>
            <a:r>
              <a:rPr lang="en-US" sz="2200" b="0" strike="noStrike" spc="-1" dirty="0">
                <a:solidFill>
                  <a:srgbClr val="000000"/>
                </a:solidFill>
                <a:latin typeface="Times New Roman"/>
              </a:rPr>
              <a:t> </a:t>
            </a:r>
            <a:r>
              <a:rPr lang="en-US" sz="2200" b="1" strike="noStrike" spc="-1" dirty="0">
                <a:solidFill>
                  <a:srgbClr val="000000"/>
                </a:solidFill>
                <a:latin typeface="Times New Roman"/>
              </a:rPr>
              <a:t>Pi Camera (</a:t>
            </a:r>
            <a:r>
              <a:rPr lang="en-US" sz="2200" b="1" strike="noStrike" spc="-1" dirty="0" err="1">
                <a:solidFill>
                  <a:srgbClr val="000000"/>
                </a:solidFill>
                <a:latin typeface="Times New Roman"/>
              </a:rPr>
              <a:t>NoIR</a:t>
            </a:r>
            <a:r>
              <a:rPr lang="en-US" sz="2200" b="0" strike="noStrike" spc="-1" dirty="0">
                <a:solidFill>
                  <a:srgbClr val="000000"/>
                </a:solidFill>
                <a:latin typeface="Times New Roman"/>
              </a:rPr>
              <a:t>) – connected via camera interface for capturing images.</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a:t>
            </a:r>
            <a:r>
              <a:rPr lang="en-US" sz="2200" b="1" strike="noStrike" spc="-1" dirty="0">
                <a:solidFill>
                  <a:srgbClr val="000000"/>
                </a:solidFill>
                <a:latin typeface="Times New Roman"/>
              </a:rPr>
              <a:t>5)</a:t>
            </a:r>
            <a:r>
              <a:rPr lang="en-US" sz="2200" b="0" strike="noStrike" spc="-1" dirty="0">
                <a:solidFill>
                  <a:srgbClr val="000000"/>
                </a:solidFill>
                <a:latin typeface="Times New Roman"/>
              </a:rPr>
              <a:t> </a:t>
            </a:r>
            <a:r>
              <a:rPr lang="en-US" sz="2200" b="1" strike="noStrike" spc="-1" dirty="0">
                <a:solidFill>
                  <a:srgbClr val="000000"/>
                </a:solidFill>
                <a:latin typeface="Times New Roman"/>
              </a:rPr>
              <a:t>LoRa Module </a:t>
            </a:r>
            <a:r>
              <a:rPr lang="en-US" sz="2200" b="0" strike="noStrike" spc="-1" dirty="0">
                <a:solidFill>
                  <a:srgbClr val="000000"/>
                </a:solidFill>
                <a:latin typeface="Times New Roman"/>
              </a:rPr>
              <a:t>– connected via SPI/I2C for long-range wireless communication.</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a:t>
            </a:r>
            <a:r>
              <a:rPr lang="en-US" sz="2200" b="1" strike="noStrike" spc="-1" dirty="0">
                <a:solidFill>
                  <a:srgbClr val="000000"/>
                </a:solidFill>
                <a:latin typeface="Times New Roman"/>
              </a:rPr>
              <a:t>6)</a:t>
            </a:r>
            <a:r>
              <a:rPr lang="en-US" sz="2200" b="0" strike="noStrike" spc="-1" dirty="0">
                <a:solidFill>
                  <a:srgbClr val="000000"/>
                </a:solidFill>
                <a:latin typeface="Times New Roman"/>
              </a:rPr>
              <a:t> </a:t>
            </a:r>
            <a:r>
              <a:rPr lang="en-US" sz="2200" b="1" strike="noStrike" spc="-1" dirty="0">
                <a:solidFill>
                  <a:srgbClr val="000000"/>
                </a:solidFill>
                <a:latin typeface="Times New Roman"/>
              </a:rPr>
              <a:t>Buzzer / LED </a:t>
            </a:r>
            <a:r>
              <a:rPr lang="en-US" sz="2200" b="0" strike="noStrike" spc="-1" dirty="0">
                <a:solidFill>
                  <a:srgbClr val="000000"/>
                </a:solidFill>
                <a:latin typeface="Times New Roman"/>
              </a:rPr>
              <a:t>– connected to GPIO pins for local alert system.</a:t>
            </a:r>
            <a:endParaRPr lang="en-US" sz="2200" b="0" strike="noStrike" spc="-1" dirty="0">
              <a:latin typeface="Arial"/>
            </a:endParaRPr>
          </a:p>
          <a:p>
            <a:pPr>
              <a:lnSpc>
                <a:spcPct val="100000"/>
              </a:lnSpc>
            </a:pPr>
            <a:endParaRPr lang="en-US" sz="2200" b="0" strike="noStrike" spc="-1" dirty="0">
              <a:latin typeface="Arial"/>
            </a:endParaRPr>
          </a:p>
          <a:p>
            <a:pPr>
              <a:lnSpc>
                <a:spcPct val="100000"/>
              </a:lnSpc>
            </a:pPr>
            <a:r>
              <a:rPr lang="en-US" sz="2200" b="0" strike="noStrike" spc="-1" dirty="0">
                <a:solidFill>
                  <a:srgbClr val="000000"/>
                </a:solidFill>
                <a:latin typeface="Times New Roman"/>
              </a:rPr>
              <a:t> </a:t>
            </a:r>
            <a:r>
              <a:rPr lang="en-US" sz="2200" b="1" strike="noStrike" spc="-1" dirty="0">
                <a:solidFill>
                  <a:srgbClr val="000000"/>
                </a:solidFill>
                <a:latin typeface="Times New Roman"/>
              </a:rPr>
              <a:t>7) Solar Panel with Battery </a:t>
            </a:r>
            <a:r>
              <a:rPr lang="en-US" sz="2200" b="0" strike="noStrike" spc="-1" dirty="0">
                <a:solidFill>
                  <a:srgbClr val="000000"/>
                </a:solidFill>
                <a:latin typeface="Times New Roman"/>
              </a:rPr>
              <a:t>– supplies power to Raspberry Pi and all modules.</a:t>
            </a:r>
            <a:endParaRPr lang="en-US" sz="2200" b="0" strike="noStrike" spc="-1" dirty="0">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 name="Picture 3"/>
          <p:cNvPicPr/>
          <p:nvPr/>
        </p:nvPicPr>
        <p:blipFill>
          <a:blip r:embed="rId2"/>
          <a:stretch/>
        </p:blipFill>
        <p:spPr>
          <a:xfrm>
            <a:off x="49680" y="0"/>
            <a:ext cx="1312560" cy="1110600"/>
          </a:xfrm>
          <a:prstGeom prst="rect">
            <a:avLst/>
          </a:prstGeom>
          <a:ln>
            <a:noFill/>
          </a:ln>
        </p:spPr>
      </p:pic>
      <p:pic>
        <p:nvPicPr>
          <p:cNvPr id="139" name="Picture 4"/>
          <p:cNvPicPr/>
          <p:nvPr/>
        </p:nvPicPr>
        <p:blipFill>
          <a:blip r:embed="rId3"/>
          <a:stretch/>
        </p:blipFill>
        <p:spPr>
          <a:xfrm>
            <a:off x="10502280" y="0"/>
            <a:ext cx="1639440" cy="1225080"/>
          </a:xfrm>
          <a:prstGeom prst="rect">
            <a:avLst/>
          </a:prstGeom>
          <a:ln>
            <a:noFill/>
          </a:ln>
        </p:spPr>
      </p:pic>
      <p:sp>
        <p:nvSpPr>
          <p:cNvPr id="140" name="CustomShape 2"/>
          <p:cNvSpPr/>
          <p:nvPr/>
        </p:nvSpPr>
        <p:spPr>
          <a:xfrm>
            <a:off x="4584180" y="1110600"/>
            <a:ext cx="3023640" cy="82764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gn="ctr">
              <a:lnSpc>
                <a:spcPct val="100000"/>
              </a:lnSpc>
            </a:pPr>
            <a:r>
              <a:rPr lang="en-US" sz="2800" b="1" u="sng" strike="noStrike" spc="-1" dirty="0">
                <a:solidFill>
                  <a:srgbClr val="000000"/>
                </a:solidFill>
                <a:uFillTx/>
                <a:latin typeface="Calibri"/>
              </a:rPr>
              <a:t>ADVANTAGES</a:t>
            </a:r>
            <a:endParaRPr lang="en-US" sz="2800" b="0" strike="noStrike" spc="-1" dirty="0">
              <a:latin typeface="Arial"/>
            </a:endParaRPr>
          </a:p>
        </p:txBody>
      </p:sp>
      <p:sp>
        <p:nvSpPr>
          <p:cNvPr id="141" name="CustomShape 3"/>
          <p:cNvSpPr/>
          <p:nvPr/>
        </p:nvSpPr>
        <p:spPr>
          <a:xfrm>
            <a:off x="1290240" y="2577600"/>
            <a:ext cx="9407880" cy="4239360"/>
          </a:xfrm>
          <a:prstGeom prst="rect">
            <a:avLst/>
          </a:prstGeom>
          <a:ln>
            <a:solidFill>
              <a:schemeClr val="bg1"/>
            </a:solidFill>
          </a:ln>
        </p:spPr>
        <p:style>
          <a:lnRef idx="2">
            <a:schemeClr val="dk1"/>
          </a:lnRef>
          <a:fillRef idx="1">
            <a:schemeClr val="lt1"/>
          </a:fillRef>
          <a:effectRef idx="0">
            <a:schemeClr val="dk1"/>
          </a:effectRef>
          <a:fontRef idx="minor"/>
        </p:style>
        <p:txBody>
          <a:bodyPr lIns="90000" tIns="45000" rIns="90000" bIns="45000" anchor="ctr">
            <a:noAutofit/>
          </a:bodyPr>
          <a:lstStyle/>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AI-based accurate threat detection (YOLOv5)</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Wireless data transfer via LoRa</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Remote control and monitoring through Blynk app</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Energy-efficient with solar power</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Easy integration with cloud (Firebase)</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Cost-effective and scalable</a:t>
            </a:r>
            <a:endParaRPr lang="en-US" sz="2400" b="0" strike="noStrike" spc="-1" dirty="0">
              <a:latin typeface="Arial"/>
            </a:endParaRPr>
          </a:p>
          <a:p>
            <a:pPr marL="343080" indent="-342720">
              <a:lnSpc>
                <a:spcPct val="150000"/>
              </a:lnSpc>
              <a:spcBef>
                <a:spcPts val="96"/>
              </a:spcBef>
              <a:buClr>
                <a:srgbClr val="000000"/>
              </a:buClr>
              <a:buFont typeface="Arial"/>
              <a:buChar char="•"/>
            </a:pPr>
            <a:r>
              <a:rPr lang="en-US" sz="2400" b="0" strike="noStrike" spc="-1" dirty="0">
                <a:solidFill>
                  <a:srgbClr val="000000"/>
                </a:solidFill>
                <a:latin typeface="Calibri"/>
                <a:ea typeface="DejaVu Sans"/>
              </a:rPr>
              <a:t>Real-time alert system with siren and LEDs</a:t>
            </a:r>
            <a:endParaRPr lang="en-US" sz="2400" b="0" strike="noStrike" spc="-1" dirty="0">
              <a:latin typeface="Arial"/>
            </a:endParaRPr>
          </a:p>
          <a:p>
            <a:pPr marL="343080" indent="-342720">
              <a:lnSpc>
                <a:spcPct val="250000"/>
              </a:lnSpc>
              <a:buClr>
                <a:srgbClr val="000000"/>
              </a:buClr>
              <a:buFont typeface="Arial"/>
              <a:buChar char="•"/>
            </a:pPr>
            <a:endParaRPr lang="en-US" sz="2000" b="0" strike="noStrike" spc="-1" dirty="0">
              <a:latin typeface="Arial"/>
            </a:endParaRPr>
          </a:p>
          <a:p>
            <a:pPr>
              <a:lnSpc>
                <a:spcPct val="250000"/>
              </a:lnSpc>
            </a:pPr>
            <a:endParaRPr lang="en-US" sz="2000" b="0" strike="noStrike" spc="-1" dirty="0">
              <a:latin typeface="Arial"/>
            </a:endParaRPr>
          </a:p>
        </p:txBody>
      </p:sp>
      <p:sp>
        <p:nvSpPr>
          <p:cNvPr id="9" name="TextShape 1">
            <a:extLst>
              <a:ext uri="{FF2B5EF4-FFF2-40B4-BE49-F238E27FC236}">
                <a16:creationId xmlns:a16="http://schemas.microsoft.com/office/drawing/2014/main" id="{0DA0A322-EFC5-468E-A3CD-F30FCECB4B23}"/>
              </a:ext>
            </a:extLst>
          </p:cNvPr>
          <p:cNvSpPr txBox="1"/>
          <p:nvPr/>
        </p:nvSpPr>
        <p:spPr>
          <a:xfrm>
            <a:off x="958915" y="-11772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TextShape 1"/>
          <p:cNvSpPr txBox="1"/>
          <p:nvPr/>
        </p:nvSpPr>
        <p:spPr>
          <a:xfrm>
            <a:off x="1155960" y="-15120"/>
            <a:ext cx="10295280" cy="1138320"/>
          </a:xfrm>
          <a:prstGeom prst="rect">
            <a:avLst/>
          </a:prstGeom>
          <a:noFill/>
          <a:ln>
            <a:noFill/>
          </a:ln>
        </p:spPr>
        <p:txBody>
          <a:bodyPr anchor="ctr">
            <a:normAutofit/>
          </a:bodyPr>
          <a:lstStyle/>
          <a:p>
            <a:pPr algn="ctr">
              <a:lnSpc>
                <a:spcPct val="90000"/>
              </a:lnSpc>
            </a:pPr>
            <a:r>
              <a:rPr lang="en-US" sz="31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sp>
        <p:nvSpPr>
          <p:cNvPr id="143" name="TextShape 2"/>
          <p:cNvSpPr txBox="1"/>
          <p:nvPr/>
        </p:nvSpPr>
        <p:spPr>
          <a:xfrm>
            <a:off x="1280160" y="2108160"/>
            <a:ext cx="10073160" cy="3789360"/>
          </a:xfrm>
          <a:prstGeom prst="rect">
            <a:avLst/>
          </a:prstGeom>
          <a:noFill/>
          <a:ln>
            <a:noFill/>
          </a:ln>
        </p:spPr>
        <p:txBody>
          <a:bodyPr>
            <a:normAutofit/>
          </a:bodyPr>
          <a:lstStyle/>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Crop protection from animals</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Smart agriculture farm monitoring</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Wildlife monitoring</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Farm security against intruders</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Remote farming support</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rPr>
              <a:t>Custom farming services.</a:t>
            </a:r>
            <a:endParaRPr lang="en-US" sz="2400" b="0" strike="noStrike" spc="-1" dirty="0">
              <a:solidFill>
                <a:srgbClr val="000000"/>
              </a:solidFill>
              <a:latin typeface="Calibri"/>
            </a:endParaRPr>
          </a:p>
          <a:p>
            <a:pPr marL="228600" indent="-228240">
              <a:lnSpc>
                <a:spcPct val="100000"/>
              </a:lnSpc>
              <a:spcBef>
                <a:spcPts val="1001"/>
              </a:spcBef>
              <a:buClr>
                <a:srgbClr val="000000"/>
              </a:buClr>
              <a:buFont typeface="Arial"/>
              <a:buChar char="•"/>
            </a:pPr>
            <a:endParaRPr lang="en-US" sz="2400" b="0" strike="noStrike" spc="-1" dirty="0">
              <a:solidFill>
                <a:srgbClr val="000000"/>
              </a:solidFill>
              <a:latin typeface="Calibri"/>
            </a:endParaRPr>
          </a:p>
          <a:p>
            <a:pPr>
              <a:lnSpc>
                <a:spcPct val="200000"/>
              </a:lnSpc>
              <a:spcBef>
                <a:spcPts val="1001"/>
              </a:spcBef>
            </a:pPr>
            <a:endParaRPr lang="en-US" sz="2400" b="0" strike="noStrike" spc="-1" dirty="0">
              <a:solidFill>
                <a:srgbClr val="000000"/>
              </a:solidFill>
              <a:latin typeface="Calibri"/>
            </a:endParaRPr>
          </a:p>
          <a:p>
            <a:pPr>
              <a:lnSpc>
                <a:spcPct val="90000"/>
              </a:lnSpc>
              <a:spcBef>
                <a:spcPts val="1001"/>
              </a:spcBef>
            </a:pPr>
            <a:endParaRPr lang="en-US" sz="2400" b="0" strike="noStrike" spc="-1" dirty="0">
              <a:solidFill>
                <a:srgbClr val="000000"/>
              </a:solidFill>
              <a:latin typeface="Calibri"/>
            </a:endParaRPr>
          </a:p>
        </p:txBody>
      </p:sp>
      <p:pic>
        <p:nvPicPr>
          <p:cNvPr id="144" name="Picture 3"/>
          <p:cNvPicPr/>
          <p:nvPr/>
        </p:nvPicPr>
        <p:blipFill>
          <a:blip r:embed="rId2"/>
          <a:stretch/>
        </p:blipFill>
        <p:spPr>
          <a:xfrm>
            <a:off x="191520" y="44640"/>
            <a:ext cx="1271160" cy="1078560"/>
          </a:xfrm>
          <a:prstGeom prst="rect">
            <a:avLst/>
          </a:prstGeom>
          <a:ln>
            <a:noFill/>
          </a:ln>
        </p:spPr>
      </p:pic>
      <p:pic>
        <p:nvPicPr>
          <p:cNvPr id="145" name="Picture 4"/>
          <p:cNvPicPr/>
          <p:nvPr/>
        </p:nvPicPr>
        <p:blipFill>
          <a:blip r:embed="rId3"/>
          <a:stretch/>
        </p:blipFill>
        <p:spPr>
          <a:xfrm>
            <a:off x="10710720" y="14040"/>
            <a:ext cx="1480680" cy="1109160"/>
          </a:xfrm>
          <a:prstGeom prst="rect">
            <a:avLst/>
          </a:prstGeom>
          <a:ln>
            <a:noFill/>
          </a:ln>
        </p:spPr>
      </p:pic>
      <p:sp>
        <p:nvSpPr>
          <p:cNvPr id="146" name="CustomShape 3"/>
          <p:cNvSpPr/>
          <p:nvPr/>
        </p:nvSpPr>
        <p:spPr>
          <a:xfrm>
            <a:off x="4295460" y="1357200"/>
            <a:ext cx="360108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800" b="1" u="sng" strike="noStrike" spc="-1" dirty="0">
                <a:solidFill>
                  <a:srgbClr val="000000"/>
                </a:solidFill>
                <a:uFillTx/>
                <a:latin typeface="Calibri"/>
              </a:rPr>
              <a:t>APPLICATION</a:t>
            </a:r>
            <a:endParaRPr lang="en-US" sz="2800" b="0" strike="noStrike" spc="-1" dirty="0">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Shape 1"/>
          <p:cNvSpPr txBox="1"/>
          <p:nvPr/>
        </p:nvSpPr>
        <p:spPr>
          <a:xfrm>
            <a:off x="1153550" y="44640"/>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pic>
        <p:nvPicPr>
          <p:cNvPr id="148" name="Picture 3"/>
          <p:cNvPicPr/>
          <p:nvPr/>
        </p:nvPicPr>
        <p:blipFill>
          <a:blip r:embed="rId2"/>
          <a:stretch/>
        </p:blipFill>
        <p:spPr>
          <a:xfrm>
            <a:off x="191520" y="44640"/>
            <a:ext cx="1271160" cy="1078560"/>
          </a:xfrm>
          <a:prstGeom prst="rect">
            <a:avLst/>
          </a:prstGeom>
          <a:ln>
            <a:noFill/>
          </a:ln>
        </p:spPr>
      </p:pic>
      <p:pic>
        <p:nvPicPr>
          <p:cNvPr id="149" name="Picture 4"/>
          <p:cNvPicPr/>
          <p:nvPr/>
        </p:nvPicPr>
        <p:blipFill>
          <a:blip r:embed="rId3"/>
          <a:stretch/>
        </p:blipFill>
        <p:spPr>
          <a:xfrm>
            <a:off x="10710720" y="14040"/>
            <a:ext cx="1480680" cy="1109160"/>
          </a:xfrm>
          <a:prstGeom prst="rect">
            <a:avLst/>
          </a:prstGeom>
          <a:ln>
            <a:noFill/>
          </a:ln>
        </p:spPr>
      </p:pic>
      <p:sp>
        <p:nvSpPr>
          <p:cNvPr id="150" name="CustomShape 2"/>
          <p:cNvSpPr/>
          <p:nvPr/>
        </p:nvSpPr>
        <p:spPr>
          <a:xfrm>
            <a:off x="2687400" y="1505160"/>
            <a:ext cx="5396760" cy="5169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2800" b="1" u="sng" strike="noStrike" spc="-1" dirty="0">
                <a:solidFill>
                  <a:srgbClr val="000000"/>
                </a:solidFill>
                <a:uFillTx/>
                <a:latin typeface="Calibri"/>
              </a:rPr>
              <a:t>FUTURE SCOPE</a:t>
            </a:r>
            <a:endParaRPr lang="en-US" sz="2800" b="0" strike="noStrike" spc="-1" dirty="0">
              <a:latin typeface="Arial"/>
            </a:endParaRPr>
          </a:p>
        </p:txBody>
      </p:sp>
      <p:sp>
        <p:nvSpPr>
          <p:cNvPr id="151" name="CustomShape 3"/>
          <p:cNvSpPr/>
          <p:nvPr/>
        </p:nvSpPr>
        <p:spPr>
          <a:xfrm>
            <a:off x="1463040" y="2314800"/>
            <a:ext cx="10515240" cy="4350960"/>
          </a:xfrm>
          <a:prstGeom prst="rect">
            <a:avLst/>
          </a:prstGeom>
          <a:noFill/>
          <a:ln>
            <a:noFill/>
          </a:ln>
        </p:spPr>
        <p:style>
          <a:lnRef idx="0">
            <a:scrgbClr r="0" g="0" b="0"/>
          </a:lnRef>
          <a:fillRef idx="0">
            <a:scrgbClr r="0" g="0" b="0"/>
          </a:fillRef>
          <a:effectRef idx="0">
            <a:scrgbClr r="0" g="0" b="0"/>
          </a:effectRef>
          <a:fontRef idx="minor"/>
        </p:style>
        <p:txBody>
          <a:bodyPr>
            <a:normAutofit/>
          </a:bodyPr>
          <a:lstStyle/>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Integration with drones for aerial farm surveillance</a:t>
            </a:r>
            <a:endParaRPr lang="en-US" sz="2400" b="0" strike="noStrike" spc="-1" dirty="0">
              <a:latin typeface="Arial"/>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Multi-animal classification using advanced AI models</a:t>
            </a:r>
            <a:endParaRPr lang="en-US" sz="2400" b="0" strike="noStrike" spc="-1" dirty="0">
              <a:latin typeface="Arial"/>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Voice-enabled mobile applications for farmers</a:t>
            </a:r>
            <a:endParaRPr lang="en-US" sz="2400" b="0" strike="noStrike" spc="-1" dirty="0">
              <a:latin typeface="Arial"/>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Improved solar power storage for 24/7 operation</a:t>
            </a:r>
            <a:endParaRPr lang="en-US" sz="2400" b="0" strike="noStrike" spc="-1" dirty="0">
              <a:latin typeface="Arial"/>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IoT integration with smart irrigation systems</a:t>
            </a:r>
            <a:endParaRPr lang="en-US" sz="2400" b="0" strike="noStrike" spc="-1" dirty="0">
              <a:latin typeface="Arial"/>
            </a:endParaRPr>
          </a:p>
          <a:p>
            <a:pPr marL="228600" indent="-228240">
              <a:lnSpc>
                <a:spcPct val="100000"/>
              </a:lnSpc>
              <a:spcBef>
                <a:spcPts val="1001"/>
              </a:spcBef>
              <a:buClr>
                <a:srgbClr val="000000"/>
              </a:buClr>
              <a:buFont typeface="Arial"/>
              <a:buChar char="•"/>
            </a:pPr>
            <a:r>
              <a:rPr lang="en-US" sz="2400" b="0" strike="noStrike" spc="-1" dirty="0">
                <a:solidFill>
                  <a:srgbClr val="000000"/>
                </a:solidFill>
                <a:latin typeface="Times New Roman"/>
                <a:ea typeface="Tahoma"/>
              </a:rPr>
              <a:t>Scalability for large commercial farm</a:t>
            </a:r>
            <a:r>
              <a:rPr lang="en-US" sz="2600" b="0" strike="noStrike" spc="-1" dirty="0">
                <a:solidFill>
                  <a:srgbClr val="000000"/>
                </a:solidFill>
                <a:latin typeface="Times New Roman"/>
                <a:ea typeface="Tahoma"/>
              </a:rPr>
              <a:t>s</a:t>
            </a:r>
            <a:endParaRPr lang="en-US" sz="2600" b="0" strike="noStrike" spc="-1"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 name="Picture 3"/>
          <p:cNvPicPr/>
          <p:nvPr/>
        </p:nvPicPr>
        <p:blipFill>
          <a:blip r:embed="rId3"/>
          <a:stretch/>
        </p:blipFill>
        <p:spPr>
          <a:xfrm>
            <a:off x="201240" y="0"/>
            <a:ext cx="1273680" cy="1078560"/>
          </a:xfrm>
          <a:prstGeom prst="rect">
            <a:avLst/>
          </a:prstGeom>
          <a:ln>
            <a:noFill/>
          </a:ln>
        </p:spPr>
      </p:pic>
      <p:pic>
        <p:nvPicPr>
          <p:cNvPr id="154" name="Picture 4"/>
          <p:cNvPicPr/>
          <p:nvPr/>
        </p:nvPicPr>
        <p:blipFill>
          <a:blip r:embed="rId4"/>
          <a:stretch/>
        </p:blipFill>
        <p:spPr>
          <a:xfrm>
            <a:off x="10706760" y="3960"/>
            <a:ext cx="1481040" cy="1109160"/>
          </a:xfrm>
          <a:prstGeom prst="rect">
            <a:avLst/>
          </a:prstGeom>
          <a:ln>
            <a:noFill/>
          </a:ln>
        </p:spPr>
      </p:pic>
      <p:sp>
        <p:nvSpPr>
          <p:cNvPr id="155" name="CustomShape 2"/>
          <p:cNvSpPr/>
          <p:nvPr/>
        </p:nvSpPr>
        <p:spPr>
          <a:xfrm>
            <a:off x="4670280" y="1078920"/>
            <a:ext cx="2841120" cy="842760"/>
          </a:xfrm>
          <a:prstGeom prst="rect">
            <a:avLst/>
          </a:prstGeom>
          <a:ln>
            <a:solidFill>
              <a:schemeClr val="bg1"/>
            </a:solidFill>
          </a:ln>
        </p:spPr>
        <p:style>
          <a:lnRef idx="2">
            <a:schemeClr val="accent6"/>
          </a:lnRef>
          <a:fillRef idx="1">
            <a:schemeClr val="lt1"/>
          </a:fillRef>
          <a:effectRef idx="0">
            <a:schemeClr val="accent6"/>
          </a:effectRef>
          <a:fontRef idx="minor"/>
        </p:style>
        <p:txBody>
          <a:bodyPr lIns="90000" tIns="45000" rIns="90000" bIns="45000" anchor="ctr">
            <a:noAutofit/>
          </a:bodyPr>
          <a:lstStyle/>
          <a:p>
            <a:pPr>
              <a:lnSpc>
                <a:spcPct val="110000"/>
              </a:lnSpc>
            </a:pPr>
            <a:r>
              <a:rPr lang="en-US" sz="2800" b="1" u="sng" strike="noStrike" spc="-1" dirty="0">
                <a:solidFill>
                  <a:srgbClr val="000000"/>
                </a:solidFill>
                <a:latin typeface="Times New Roman"/>
              </a:rPr>
              <a:t>REFRENCES</a:t>
            </a:r>
            <a:endParaRPr lang="en-US" sz="2800" b="0" u="sng" strike="noStrike" spc="-1" dirty="0">
              <a:latin typeface="Arial"/>
            </a:endParaRPr>
          </a:p>
        </p:txBody>
      </p:sp>
      <p:sp>
        <p:nvSpPr>
          <p:cNvPr id="156" name="CustomShape 3"/>
          <p:cNvSpPr/>
          <p:nvPr/>
        </p:nvSpPr>
        <p:spPr>
          <a:xfrm>
            <a:off x="951480" y="2036880"/>
            <a:ext cx="10387080" cy="413044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marL="216000" indent="-216000">
              <a:lnSpc>
                <a:spcPct val="150000"/>
              </a:lnSpc>
              <a:spcBef>
                <a:spcPts val="96"/>
              </a:spcBef>
              <a:buClr>
                <a:srgbClr val="000000"/>
              </a:buClr>
              <a:buFont typeface="StarSymbol"/>
              <a:buAutoNum type="arabicParenR"/>
            </a:pPr>
            <a:r>
              <a:rPr lang="en-US" sz="2000" b="0" strike="noStrike" spc="-1" dirty="0">
                <a:solidFill>
                  <a:srgbClr val="000000"/>
                </a:solidFill>
                <a:latin typeface="Calibri"/>
                <a:ea typeface="DejaVu Sans"/>
              </a:rPr>
              <a:t> Singh et al., "Fog-based Animal Detection System for Crop Protection", IEEE Xplore, 2023</a:t>
            </a:r>
            <a:endParaRPr lang="en-US" sz="2000" b="0" strike="noStrike" spc="-1" dirty="0">
              <a:latin typeface="Arial"/>
            </a:endParaRPr>
          </a:p>
          <a:p>
            <a:pPr marL="216000" indent="-216000">
              <a:lnSpc>
                <a:spcPct val="150000"/>
              </a:lnSpc>
              <a:spcBef>
                <a:spcPts val="96"/>
              </a:spcBef>
              <a:buClr>
                <a:srgbClr val="000000"/>
              </a:buClr>
              <a:buFont typeface="StarSymbol"/>
              <a:buAutoNum type="arabicParenR"/>
            </a:pPr>
            <a:r>
              <a:rPr lang="en-US" sz="2000" b="0" strike="noStrike" spc="-1" dirty="0">
                <a:solidFill>
                  <a:srgbClr val="000000"/>
                </a:solidFill>
                <a:latin typeface="Calibri"/>
                <a:ea typeface="DejaVu Sans"/>
              </a:rPr>
              <a:t> Kumar, R., "Edge AI in Agricultural Monitoring", Springer, 2021</a:t>
            </a:r>
            <a:endParaRPr lang="en-US" sz="2000" b="0" strike="noStrike" spc="-1" dirty="0">
              <a:latin typeface="Arial"/>
            </a:endParaRPr>
          </a:p>
          <a:p>
            <a:pPr marL="216000" indent="-216000">
              <a:lnSpc>
                <a:spcPct val="150000"/>
              </a:lnSpc>
              <a:spcBef>
                <a:spcPts val="96"/>
              </a:spcBef>
              <a:buClr>
                <a:srgbClr val="000000"/>
              </a:buClr>
              <a:buFont typeface="StarSymbol"/>
              <a:buAutoNum type="arabicParenR"/>
            </a:pPr>
            <a:r>
              <a:rPr lang="en-US" sz="2000" b="0" strike="noStrike" spc="-1" dirty="0">
                <a:solidFill>
                  <a:srgbClr val="000000"/>
                </a:solidFill>
                <a:latin typeface="Calibri"/>
                <a:ea typeface="DejaVu Sans"/>
              </a:rPr>
              <a:t> </a:t>
            </a:r>
            <a:r>
              <a:rPr lang="en-US" sz="2000" b="0" strike="noStrike" spc="-1" dirty="0">
                <a:solidFill>
                  <a:srgbClr val="000000"/>
                </a:solidFill>
                <a:latin typeface="Calibri"/>
                <a:ea typeface="DejaVu Sans"/>
                <a:hlinkClick r:id="rId5"/>
              </a:rPr>
              <a:t>https://agmarknet.gov.in</a:t>
            </a:r>
            <a:endParaRPr lang="en-US" sz="2000" b="0" strike="noStrike" spc="-1" dirty="0">
              <a:latin typeface="Arial"/>
            </a:endParaRPr>
          </a:p>
          <a:p>
            <a:pPr marL="216000" indent="-216000">
              <a:lnSpc>
                <a:spcPct val="150000"/>
              </a:lnSpc>
              <a:spcBef>
                <a:spcPts val="96"/>
              </a:spcBef>
              <a:buClr>
                <a:srgbClr val="000000"/>
              </a:buClr>
              <a:buFont typeface="StarSymbol"/>
              <a:buAutoNum type="arabicParenR"/>
            </a:pPr>
            <a:r>
              <a:rPr lang="en-US" sz="2000" b="0" strike="noStrike" spc="-1" dirty="0">
                <a:solidFill>
                  <a:srgbClr val="000000"/>
                </a:solidFill>
                <a:latin typeface="Calibri"/>
                <a:ea typeface="DejaVu Sans"/>
              </a:rPr>
              <a:t> </a:t>
            </a:r>
            <a:r>
              <a:rPr lang="en-US" sz="2000" b="0" strike="noStrike" spc="-1" dirty="0">
                <a:solidFill>
                  <a:srgbClr val="000000"/>
                </a:solidFill>
                <a:latin typeface="Calibri"/>
                <a:ea typeface="DejaVu Sans"/>
                <a:hlinkClick r:id="rId6"/>
              </a:rPr>
              <a:t>https://www.tensorflow.org/lite</a:t>
            </a:r>
            <a:endParaRPr lang="en-US" sz="2000" b="0" strike="noStrike" spc="-1" dirty="0">
              <a:latin typeface="Arial"/>
            </a:endParaRPr>
          </a:p>
          <a:p>
            <a:pPr marL="216000" indent="-216000">
              <a:lnSpc>
                <a:spcPct val="100000"/>
              </a:lnSpc>
              <a:buClr>
                <a:srgbClr val="000000"/>
              </a:buClr>
              <a:buFont typeface="StarSymbol"/>
              <a:buAutoNum type="arabicParenR"/>
            </a:pPr>
            <a:r>
              <a:rPr lang="en-US" sz="2000" b="0" strike="noStrike" spc="-1" dirty="0">
                <a:solidFill>
                  <a:srgbClr val="000000"/>
                </a:solidFill>
                <a:latin typeface="Calibri"/>
                <a:ea typeface="DejaVu Sans"/>
              </a:rPr>
              <a:t> </a:t>
            </a:r>
            <a:r>
              <a:rPr lang="en-US" sz="2000" b="0" strike="noStrike" spc="-1" dirty="0">
                <a:solidFill>
                  <a:srgbClr val="000000"/>
                </a:solidFill>
                <a:latin typeface="Calibri"/>
                <a:ea typeface="DejaVu Sans"/>
                <a:hlinkClick r:id="rId7"/>
              </a:rPr>
              <a:t>https://www.raspberrypi.com</a:t>
            </a:r>
            <a:endParaRPr lang="en-US" sz="2000" b="0" strike="noStrike" spc="-1" dirty="0">
              <a:latin typeface="Arial"/>
            </a:endParaRPr>
          </a:p>
          <a:p>
            <a:pPr marL="216000" indent="-216000">
              <a:lnSpc>
                <a:spcPct val="100000"/>
              </a:lnSpc>
              <a:buClr>
                <a:srgbClr val="000000"/>
              </a:buClr>
              <a:buFont typeface="StarSymbol"/>
              <a:buAutoNum type="arabicParenR"/>
            </a:pP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endParaRPr lang="en-US" sz="2000" b="0" strike="noStrike" spc="-1" dirty="0">
              <a:latin typeface="Arial"/>
            </a:endParaRPr>
          </a:p>
          <a:p>
            <a:pPr>
              <a:lnSpc>
                <a:spcPct val="100000"/>
              </a:lnSpc>
            </a:pPr>
            <a:endParaRPr lang="en-US" sz="2000" b="0" strike="noStrike" spc="-1" dirty="0">
              <a:latin typeface="Arial"/>
            </a:endParaRPr>
          </a:p>
        </p:txBody>
      </p:sp>
      <p:sp>
        <p:nvSpPr>
          <p:cNvPr id="7" name="TextShape 1">
            <a:extLst>
              <a:ext uri="{FF2B5EF4-FFF2-40B4-BE49-F238E27FC236}">
                <a16:creationId xmlns:a16="http://schemas.microsoft.com/office/drawing/2014/main" id="{7A3928B9-DB02-4CF3-AA31-FB5FF747ECE6}"/>
              </a:ext>
            </a:extLst>
          </p:cNvPr>
          <p:cNvSpPr txBox="1"/>
          <p:nvPr/>
        </p:nvSpPr>
        <p:spPr>
          <a:xfrm>
            <a:off x="951480" y="-39586"/>
            <a:ext cx="10070529" cy="1460520"/>
          </a:xfrm>
          <a:prstGeom prst="rect">
            <a:avLst/>
          </a:prstGeom>
          <a:noFill/>
          <a:ln>
            <a:noFill/>
          </a:ln>
        </p:spPr>
        <p:txBody>
          <a:bodyPr anchor="ctr">
            <a:normAutofit/>
          </a:bodyPr>
          <a:lstStyle/>
          <a:p>
            <a:pPr algn="ctr">
              <a:lnSpc>
                <a:spcPct val="90000"/>
              </a:lnSpc>
            </a:pPr>
            <a:r>
              <a:rPr lang="en-US" sz="2400" b="1" strike="noStrike" spc="-1" dirty="0">
                <a:solidFill>
                  <a:srgbClr val="000000"/>
                </a:solidFill>
                <a:latin typeface="Arial Black"/>
              </a:rPr>
              <a:t>Dhole Patil Education Society’s</a:t>
            </a:r>
            <a:br>
              <a:rPr dirty="0"/>
            </a:br>
            <a:r>
              <a:rPr lang="en-US" sz="3100" b="1" strike="noStrike" spc="-1" dirty="0">
                <a:solidFill>
                  <a:srgbClr val="000000"/>
                </a:solidFill>
                <a:latin typeface="Arial Black"/>
              </a:rPr>
              <a:t>Dhole Patil College of Engineering, Pune </a:t>
            </a:r>
            <a:endParaRPr lang="en-US" sz="3100" b="0" strike="noStrike" spc="-1" dirty="0">
              <a:solidFill>
                <a:srgbClr val="000000"/>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TextShape 1"/>
          <p:cNvSpPr txBox="1"/>
          <p:nvPr/>
        </p:nvSpPr>
        <p:spPr>
          <a:xfrm>
            <a:off x="1463040" y="209160"/>
            <a:ext cx="9143640" cy="883440"/>
          </a:xfrm>
          <a:prstGeom prst="rect">
            <a:avLst/>
          </a:prstGeom>
          <a:noFill/>
          <a:ln>
            <a:noFill/>
          </a:ln>
        </p:spPr>
        <p:txBody>
          <a:bodyPr anchor="b">
            <a:normAutofit fontScale="98000"/>
          </a:bodyPr>
          <a:lstStyle/>
          <a:p>
            <a:pPr algn="ctr">
              <a:lnSpc>
                <a:spcPct val="90000"/>
              </a:lnSpc>
            </a:pPr>
            <a:r>
              <a:rPr lang="en-US" sz="2400" b="1" strike="noStrike" spc="-1">
                <a:solidFill>
                  <a:srgbClr val="000000"/>
                </a:solidFill>
                <a:latin typeface="Arial Black"/>
              </a:rPr>
              <a:t>Dhole Patil Education Society’s</a:t>
            </a:r>
            <a:br/>
            <a:r>
              <a:rPr lang="en-US" sz="3100" b="1" strike="noStrike" spc="-1">
                <a:solidFill>
                  <a:srgbClr val="000000"/>
                </a:solidFill>
                <a:latin typeface="Arial Black"/>
              </a:rPr>
              <a:t>Dhole Patil College of Engineering, Pune </a:t>
            </a:r>
            <a:endParaRPr lang="en-US" sz="3100" b="0" strike="noStrike" spc="-1">
              <a:solidFill>
                <a:srgbClr val="000000"/>
              </a:solidFill>
              <a:latin typeface="Calibri"/>
            </a:endParaRPr>
          </a:p>
        </p:txBody>
      </p:sp>
      <p:pic>
        <p:nvPicPr>
          <p:cNvPr id="158" name="Picture 3"/>
          <p:cNvPicPr/>
          <p:nvPr/>
        </p:nvPicPr>
        <p:blipFill>
          <a:blip r:embed="rId2"/>
          <a:stretch/>
        </p:blipFill>
        <p:spPr>
          <a:xfrm>
            <a:off x="191520" y="14040"/>
            <a:ext cx="1271160" cy="1078560"/>
          </a:xfrm>
          <a:prstGeom prst="rect">
            <a:avLst/>
          </a:prstGeom>
          <a:ln>
            <a:noFill/>
          </a:ln>
        </p:spPr>
      </p:pic>
      <p:pic>
        <p:nvPicPr>
          <p:cNvPr id="159" name="Picture 4"/>
          <p:cNvPicPr/>
          <p:nvPr/>
        </p:nvPicPr>
        <p:blipFill>
          <a:blip r:embed="rId3"/>
          <a:stretch/>
        </p:blipFill>
        <p:spPr>
          <a:xfrm>
            <a:off x="10710720" y="14040"/>
            <a:ext cx="1480680" cy="1109160"/>
          </a:xfrm>
          <a:prstGeom prst="rect">
            <a:avLst/>
          </a:prstGeom>
          <a:ln>
            <a:noFill/>
          </a:ln>
        </p:spPr>
      </p:pic>
      <p:sp>
        <p:nvSpPr>
          <p:cNvPr id="160" name="TextShape 2"/>
          <p:cNvSpPr txBox="1"/>
          <p:nvPr/>
        </p:nvSpPr>
        <p:spPr>
          <a:xfrm>
            <a:off x="1524180" y="2601360"/>
            <a:ext cx="9143640" cy="1655280"/>
          </a:xfrm>
          <a:prstGeom prst="rect">
            <a:avLst/>
          </a:prstGeom>
          <a:noFill/>
          <a:ln>
            <a:noFill/>
          </a:ln>
        </p:spPr>
        <p:txBody>
          <a:bodyPr>
            <a:noAutofit/>
          </a:bodyPr>
          <a:lstStyle/>
          <a:p>
            <a:pPr algn="ctr">
              <a:lnSpc>
                <a:spcPct val="90000"/>
              </a:lnSpc>
              <a:spcBef>
                <a:spcPts val="1001"/>
              </a:spcBef>
            </a:pPr>
            <a:r>
              <a:rPr lang="en-US" sz="11500" b="1" u="sng" strike="noStrike" spc="-1" dirty="0">
                <a:solidFill>
                  <a:srgbClr val="000000"/>
                </a:solidFill>
                <a:latin typeface="Britannic Bold"/>
              </a:rPr>
              <a:t>Thank You</a:t>
            </a:r>
            <a:r>
              <a:rPr lang="en-US" sz="11500" b="1" strike="noStrike" spc="-1" dirty="0">
                <a:solidFill>
                  <a:srgbClr val="000000"/>
                </a:solidFill>
                <a:latin typeface="Britannic Bold"/>
              </a:rPr>
              <a:t>…</a:t>
            </a:r>
            <a:endParaRPr lang="en-US" sz="11500" b="0" strike="noStrike" spc="-1" dirty="0">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TotalTime>
  <Words>1114</Words>
  <Application>Microsoft Office PowerPoint</Application>
  <PresentationFormat>Widescreen</PresentationFormat>
  <Paragraphs>160</Paragraphs>
  <Slides>15</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15</vt:i4>
      </vt:variant>
    </vt:vector>
  </HeadingPairs>
  <TitlesOfParts>
    <vt:vector size="26" baseType="lpstr">
      <vt:lpstr>Arial</vt:lpstr>
      <vt:lpstr>Arial Black</vt:lpstr>
      <vt:lpstr>Britannic Bold</vt:lpstr>
      <vt:lpstr>Calibri</vt:lpstr>
      <vt:lpstr>Calibri Light</vt:lpstr>
      <vt:lpstr>StarSymbol</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Dhole Patil Education Society’s Dhole Patil College of Engineering, Pune</dc:title>
  <dc:subject/>
  <dc:creator>User11</dc:creator>
  <dc:description/>
  <cp:lastModifiedBy>mayur ichake</cp:lastModifiedBy>
  <cp:revision>30</cp:revision>
  <dcterms:created xsi:type="dcterms:W3CDTF">2024-11-04T10:05:00Z</dcterms:created>
  <dcterms:modified xsi:type="dcterms:W3CDTF">2025-09-12T18:00:58Z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ICV">
    <vt:lpwstr>6BA557B7CFC243AAB7424EECF31B3E3A_13</vt:lpwstr>
  </property>
  <property fmtid="{D5CDD505-2E9C-101B-9397-08002B2CF9AE}" pid="6" name="KSOProductBuildVer">
    <vt:lpwstr>1033-12.2.0.20795</vt:lpwstr>
  </property>
  <property fmtid="{D5CDD505-2E9C-101B-9397-08002B2CF9AE}" pid="7" name="LinksUpToDate">
    <vt:bool>false</vt:bool>
  </property>
  <property fmtid="{D5CDD505-2E9C-101B-9397-08002B2CF9AE}" pid="8" name="MMClips">
    <vt:i4>0</vt:i4>
  </property>
  <property fmtid="{D5CDD505-2E9C-101B-9397-08002B2CF9AE}" pid="9" name="Notes">
    <vt:i4>2</vt:i4>
  </property>
  <property fmtid="{D5CDD505-2E9C-101B-9397-08002B2CF9AE}" pid="10" name="PresentationFormat">
    <vt:lpwstr>Widescreen</vt:lpwstr>
  </property>
  <property fmtid="{D5CDD505-2E9C-101B-9397-08002B2CF9AE}" pid="11" name="ScaleCrop">
    <vt:bool>false</vt:bool>
  </property>
  <property fmtid="{D5CDD505-2E9C-101B-9397-08002B2CF9AE}" pid="12" name="ShareDoc">
    <vt:bool>false</vt:bool>
  </property>
  <property fmtid="{D5CDD505-2E9C-101B-9397-08002B2CF9AE}" pid="13" name="Slides">
    <vt:i4>19</vt:i4>
  </property>
</Properties>
</file>